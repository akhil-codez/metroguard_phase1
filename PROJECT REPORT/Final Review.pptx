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8" r:id="rId10"/>
    <p:sldId id="277" r:id="rId11"/>
    <p:sldId id="294" r:id="rId12"/>
    <p:sldId id="295" r:id="rId13"/>
    <p:sldId id="296" r:id="rId14"/>
    <p:sldId id="305" r:id="rId15"/>
    <p:sldId id="306" r:id="rId16"/>
    <p:sldId id="307" r:id="rId17"/>
    <p:sldId id="308" r:id="rId18"/>
    <p:sldId id="309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1660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1906" y="4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072" y="2254939"/>
            <a:ext cx="111831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dirty="0">
                <a:latin typeface="Times New Roman"/>
              </a:rPr>
              <a:t>MULTI-EVENT INCIDENT INTELLIGENCE</a:t>
            </a:r>
            <a:r>
              <a:rPr lang="en-US" sz="2000" dirty="0">
                <a:latin typeface="Times New Roman"/>
              </a:rPr>
              <a:t> </a:t>
            </a:r>
            <a:r>
              <a:rPr sz="2000" dirty="0">
                <a:latin typeface="Times New Roman"/>
              </a:rPr>
              <a:t>FRAMEWORK FOR SMART METRO SURVEILLANCE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55720" y="2975089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dirty="0">
                <a:latin typeface="Times New Roman"/>
              </a:rPr>
              <a:t>ADD415 PROJECT PHASE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55720" y="3423145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latin typeface="Times New Roman"/>
              </a:rPr>
              <a:t>FINAL REVIEW</a:t>
            </a:r>
          </a:p>
        </p:txBody>
      </p:sp>
      <p:pic>
        <p:nvPicPr>
          <p:cNvPr id="5" name="Picture 4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8" y="210312"/>
            <a:ext cx="749808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4773168"/>
            <a:ext cx="2583015" cy="12464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700" b="1">
                <a:latin typeface="Times New Roman"/>
              </a:defRPr>
            </a:pPr>
            <a:r>
              <a:rPr dirty="0"/>
              <a:t>Guided By :</a:t>
            </a:r>
          </a:p>
          <a:p>
            <a:pPr algn="l">
              <a:spcAft>
                <a:spcPts val="400"/>
              </a:spcAft>
              <a:defRPr sz="1600" b="0">
                <a:latin typeface="Times New Roman"/>
              </a:defRPr>
            </a:pPr>
            <a:r>
              <a:rPr dirty="0"/>
              <a:t>Ms. ARYA N S</a:t>
            </a:r>
          </a:p>
          <a:p>
            <a:pPr algn="l">
              <a:spcAft>
                <a:spcPts val="400"/>
              </a:spcAft>
              <a:defRPr sz="1600" b="1">
                <a:latin typeface="Times New Roman"/>
              </a:defRPr>
            </a:pPr>
            <a:r>
              <a:rPr dirty="0"/>
              <a:t>ASSISTANT PROFESSOR</a:t>
            </a:r>
          </a:p>
          <a:p>
            <a:pPr algn="l">
              <a:spcAft>
                <a:spcPts val="400"/>
              </a:spcAft>
              <a:defRPr sz="1600" b="0">
                <a:latin typeface="Times New Roman"/>
              </a:defRPr>
            </a:pPr>
            <a:r>
              <a:rPr lang="en-US" dirty="0"/>
              <a:t>Dept. of  AD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886956" y="4448895"/>
            <a:ext cx="3974165" cy="14978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800" b="1">
                <a:latin typeface="Times New Roman"/>
              </a:defRPr>
            </a:pPr>
            <a:r>
              <a:rPr dirty="0"/>
              <a:t>Presented By,</a:t>
            </a:r>
          </a:p>
          <a:p>
            <a:pPr algn="l">
              <a:spcAft>
                <a:spcPts val="400"/>
              </a:spcAft>
              <a:defRPr sz="1500" b="0">
                <a:latin typeface="Times New Roman"/>
              </a:defRPr>
            </a:pPr>
            <a:r>
              <a:rPr dirty="0"/>
              <a:t>ADITHYA CHANDRAN </a:t>
            </a:r>
            <a:r>
              <a:rPr lang="en-US" dirty="0"/>
              <a:t>        </a:t>
            </a:r>
            <a:r>
              <a:rPr dirty="0"/>
              <a:t> –  SPT23AD006</a:t>
            </a:r>
          </a:p>
          <a:p>
            <a:pPr algn="l">
              <a:spcAft>
                <a:spcPts val="400"/>
              </a:spcAft>
              <a:defRPr sz="1500" b="0">
                <a:latin typeface="Times New Roman"/>
              </a:defRPr>
            </a:pPr>
            <a:r>
              <a:rPr dirty="0"/>
              <a:t>AKHIL P  </a:t>
            </a:r>
            <a:r>
              <a:rPr lang="en-US" dirty="0"/>
              <a:t>                                  </a:t>
            </a:r>
            <a:r>
              <a:rPr dirty="0"/>
              <a:t>–  SPT23AD009</a:t>
            </a:r>
          </a:p>
          <a:p>
            <a:pPr algn="l">
              <a:spcAft>
                <a:spcPts val="400"/>
              </a:spcAft>
              <a:defRPr sz="1500" b="0">
                <a:latin typeface="Times New Roman"/>
              </a:defRPr>
            </a:pPr>
            <a:r>
              <a:rPr dirty="0"/>
              <a:t>MUHAMMED SHIBIL KP </a:t>
            </a:r>
            <a:r>
              <a:rPr lang="en-US" dirty="0"/>
              <a:t>     </a:t>
            </a:r>
            <a:r>
              <a:rPr dirty="0"/>
              <a:t> –  SPT23AD034</a:t>
            </a:r>
          </a:p>
          <a:p>
            <a:pPr algn="l">
              <a:spcAft>
                <a:spcPts val="400"/>
              </a:spcAft>
              <a:defRPr sz="1500" b="0">
                <a:latin typeface="Times New Roman"/>
              </a:defRPr>
            </a:pPr>
            <a:r>
              <a:rPr dirty="0"/>
              <a:t>SHEHRUZ MUHAMMED CS  –  SPT23AD043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05332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6E"/>
                </a:solidFill>
                <a:latin typeface="Times New Roman"/>
              </a:rPr>
              <a:t>On 16/10/2026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7C50FE-7561-9960-913F-11DB574A2F62}"/>
              </a:ext>
            </a:extLst>
          </p:cNvPr>
          <p:cNvSpPr txBox="1"/>
          <p:nvPr/>
        </p:nvSpPr>
        <p:spPr>
          <a:xfrm>
            <a:off x="504444" y="1486843"/>
            <a:ext cx="111831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 err="1">
                <a:latin typeface="Times New Roman"/>
              </a:rPr>
              <a:t>MetroGuard</a:t>
            </a:r>
            <a:r>
              <a:rPr lang="en-US" sz="4000" b="1" dirty="0">
                <a:latin typeface="Times New Roman"/>
              </a:rPr>
              <a:t> AI</a:t>
            </a:r>
            <a:endParaRPr sz="4000" b="1" dirty="0"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CONTENTS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16/10/2026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53312"/>
            <a:ext cx="6583680" cy="470916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Introduction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Problem Identification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Motivation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Objective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Scope and significance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Literature Review (20 papers)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Block diagram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Methodology / Results &amp; Screenshots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Work Plan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Gannt Chart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Resource Identification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Task allocation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Conclusion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200" b="1" u="sng">
                <a:latin typeface="Times New Roman"/>
              </a:rPr>
              <a:t>INTRODUCTION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16/10/2026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9601200" cy="323268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marL="342900" indent="-342900" algn="just">
              <a:lnSpc>
                <a:spcPct val="100000"/>
              </a:lnSpc>
              <a:spcAft>
                <a:spcPts val="1440"/>
              </a:spcAft>
              <a:buFont typeface="Arial" panose="020B0604020202020204" pitchFamily="34" charset="0"/>
              <a:buChar char="•"/>
              <a:defRPr sz="2300" b="0">
                <a:latin typeface="Times New Roman"/>
              </a:defRPr>
            </a:pPr>
            <a:r>
              <a:rPr dirty="0"/>
              <a:t>Metro rail systems rely on CCTV for passenger safety and daily operations monitoring.</a:t>
            </a:r>
          </a:p>
          <a:p>
            <a:pPr marL="342900" indent="-342900" algn="just">
              <a:lnSpc>
                <a:spcPct val="100000"/>
              </a:lnSpc>
              <a:spcAft>
                <a:spcPts val="1440"/>
              </a:spcAft>
              <a:buFont typeface="Arial" panose="020B0604020202020204" pitchFamily="34" charset="0"/>
              <a:buChar char="•"/>
              <a:defRPr sz="2300" b="0">
                <a:latin typeface="Times New Roman"/>
              </a:defRPr>
            </a:pPr>
            <a:r>
              <a:rPr dirty="0"/>
              <a:t>Existing AI systems detect isolated events independently.</a:t>
            </a:r>
          </a:p>
          <a:p>
            <a:pPr marL="342900" indent="-342900" algn="just">
              <a:lnSpc>
                <a:spcPct val="100000"/>
              </a:lnSpc>
              <a:spcAft>
                <a:spcPts val="1440"/>
              </a:spcAft>
              <a:buFont typeface="Arial" panose="020B0604020202020204" pitchFamily="34" charset="0"/>
              <a:buChar char="•"/>
              <a:defRPr sz="2300" b="0">
                <a:latin typeface="Times New Roman"/>
              </a:defRPr>
            </a:pPr>
            <a:r>
              <a:rPr dirty="0"/>
              <a:t>They generate multiple unrelated alerts.</a:t>
            </a:r>
          </a:p>
          <a:p>
            <a:pPr marL="342900" indent="-342900" algn="just">
              <a:lnSpc>
                <a:spcPct val="100000"/>
              </a:lnSpc>
              <a:spcAft>
                <a:spcPts val="1440"/>
              </a:spcAft>
              <a:buFont typeface="Arial" panose="020B0604020202020204" pitchFamily="34" charset="0"/>
              <a:buChar char="•"/>
              <a:defRPr sz="2300" b="0">
                <a:latin typeface="Times New Roman"/>
              </a:defRPr>
            </a:pPr>
            <a:r>
              <a:rPr dirty="0"/>
              <a:t>They require manual interpretation by operators.</a:t>
            </a:r>
          </a:p>
          <a:p>
            <a:pPr marL="342900" indent="-342900" algn="just">
              <a:lnSpc>
                <a:spcPct val="100000"/>
              </a:lnSpc>
              <a:spcAft>
                <a:spcPts val="1440"/>
              </a:spcAft>
              <a:buFont typeface="Arial" panose="020B0604020202020204" pitchFamily="34" charset="0"/>
              <a:buChar char="•"/>
              <a:defRPr sz="2300" b="0">
                <a:latin typeface="Times New Roman"/>
              </a:defRPr>
            </a:pPr>
            <a:r>
              <a:rPr dirty="0"/>
              <a:t>The framework integrates multiple computer vision techniques into one decision-support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200" b="1" u="sng">
                <a:latin typeface="Times New Roman"/>
              </a:rPr>
              <a:t>PROBLEM IDENTIFICATION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16/10/2026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65829"/>
            <a:ext cx="9601200" cy="2524794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just">
              <a:spcAft>
                <a:spcPts val="1440"/>
              </a:spcAft>
              <a:defRPr sz="2300" b="0">
                <a:latin typeface="Times New Roman"/>
              </a:defRPr>
            </a:pPr>
            <a:r>
              <a:rPr dirty="0"/>
              <a:t>• Current AI surveillance systems detect events independently.</a:t>
            </a:r>
          </a:p>
          <a:p>
            <a:pPr algn="just">
              <a:spcAft>
                <a:spcPts val="1440"/>
              </a:spcAft>
              <a:defRPr sz="2300" b="0">
                <a:latin typeface="Times New Roman"/>
              </a:defRPr>
            </a:pPr>
            <a:r>
              <a:rPr dirty="0"/>
              <a:t>• Security personnel must manually correlate scattered alerts.</a:t>
            </a:r>
          </a:p>
          <a:p>
            <a:pPr algn="just">
              <a:spcAft>
                <a:spcPts val="1440"/>
              </a:spcAft>
              <a:defRPr sz="2300" b="0">
                <a:latin typeface="Times New Roman"/>
              </a:defRPr>
            </a:pPr>
            <a:r>
              <a:rPr dirty="0"/>
              <a:t>• Lack of contextual understanding makes incident severity difficult to estimate.</a:t>
            </a:r>
          </a:p>
          <a:p>
            <a:pPr algn="just">
              <a:spcAft>
                <a:spcPts val="1440"/>
              </a:spcAft>
              <a:defRPr sz="2300" b="0">
                <a:latin typeface="Times New Roman"/>
              </a:defRPr>
            </a:pPr>
            <a:r>
              <a:rPr dirty="0"/>
              <a:t>• Repeated, unprioritized alerts lead to alert fatigue.</a:t>
            </a:r>
          </a:p>
          <a:p>
            <a:pPr algn="just">
              <a:spcAft>
                <a:spcPts val="1440"/>
              </a:spcAft>
              <a:defRPr sz="2300" b="0">
                <a:latin typeface="Times New Roman"/>
              </a:defRPr>
            </a:pPr>
            <a:r>
              <a:rPr dirty="0"/>
              <a:t>• A context-aware framework is required to assess risk and prioritize responses.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200" b="1" u="sng" dirty="0">
                <a:latin typeface="Times New Roman"/>
              </a:rPr>
              <a:t>MOTIVATION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16/10/2026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9601200" cy="3222421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marL="285750" lvl="0" indent="-285750" algn="just">
              <a:lnSpc>
                <a:spcPct val="100000"/>
              </a:lnSpc>
              <a:spcAft>
                <a:spcPts val="1440"/>
              </a:spcAft>
              <a:buFont typeface="Arial" panose="020B0604020202020204" pitchFamily="34" charset="0"/>
              <a:buChar char="•"/>
              <a:defRPr sz="2300">
                <a:latin typeface="Times New Roman"/>
              </a:defRPr>
            </a:pPr>
            <a:r>
              <a:rPr lang="en-IN" sz="2300" dirty="0">
                <a:latin typeface="Times New Roman"/>
              </a:rPr>
              <a:t>Current AI surveillance systems detect events independently, generating multiple isolated alerts for related incidents. </a:t>
            </a:r>
          </a:p>
          <a:p>
            <a:pPr marL="285750" lvl="0" indent="-285750" algn="just">
              <a:lnSpc>
                <a:spcPct val="100000"/>
              </a:lnSpc>
              <a:spcAft>
                <a:spcPts val="1440"/>
              </a:spcAft>
              <a:buFont typeface="Arial" panose="020B0604020202020204" pitchFamily="34" charset="0"/>
              <a:buChar char="•"/>
              <a:defRPr sz="2300">
                <a:latin typeface="Times New Roman"/>
              </a:defRPr>
            </a:pPr>
            <a:r>
              <a:rPr lang="en-IN" sz="2300" dirty="0">
                <a:latin typeface="Times New Roman"/>
              </a:rPr>
              <a:t>Manual correlation of scattered alerts increases operator workload and response time. </a:t>
            </a:r>
          </a:p>
          <a:p>
            <a:pPr marL="285750" lvl="0" indent="-285750" algn="just">
              <a:lnSpc>
                <a:spcPct val="100000"/>
              </a:lnSpc>
              <a:spcAft>
                <a:spcPts val="1440"/>
              </a:spcAft>
              <a:buFont typeface="Arial" panose="020B0604020202020204" pitchFamily="34" charset="0"/>
              <a:buChar char="•"/>
              <a:defRPr sz="2300">
                <a:latin typeface="Times New Roman"/>
              </a:defRPr>
            </a:pPr>
            <a:r>
              <a:rPr lang="en-IN" sz="2300" dirty="0">
                <a:latin typeface="Times New Roman"/>
              </a:rPr>
              <a:t>Lack of contextual understanding makes incident severity difficult to assess. </a:t>
            </a:r>
          </a:p>
          <a:p>
            <a:pPr marL="285750" lvl="0" indent="-285750" algn="just">
              <a:lnSpc>
                <a:spcPct val="100000"/>
              </a:lnSpc>
              <a:spcAft>
                <a:spcPts val="1440"/>
              </a:spcAft>
              <a:buFont typeface="Arial" panose="020B0604020202020204" pitchFamily="34" charset="0"/>
              <a:buChar char="•"/>
              <a:defRPr sz="2300">
                <a:latin typeface="Times New Roman"/>
              </a:defRPr>
            </a:pPr>
            <a:r>
              <a:rPr lang="en-IN" sz="2300" dirty="0">
                <a:latin typeface="Times New Roman"/>
              </a:rPr>
              <a:t>Repeated, unprioritized alerts can lead to alert fatigue and reduced operator efficiency. </a:t>
            </a:r>
          </a:p>
          <a:p>
            <a:pPr marL="285750" lvl="0" indent="-285750" algn="just">
              <a:lnSpc>
                <a:spcPct val="100000"/>
              </a:lnSpc>
              <a:spcAft>
                <a:spcPts val="1440"/>
              </a:spcAft>
              <a:buFont typeface="Arial" panose="020B0604020202020204" pitchFamily="34" charset="0"/>
              <a:buChar char="•"/>
              <a:defRPr sz="2300">
                <a:latin typeface="Times New Roman"/>
              </a:defRPr>
            </a:pPr>
            <a:r>
              <a:rPr lang="en-IN" sz="2300" dirty="0">
                <a:latin typeface="Times New Roman"/>
              </a:rPr>
              <a:t>A </a:t>
            </a:r>
            <a:r>
              <a:rPr lang="en-IN" sz="2300" b="1" dirty="0">
                <a:latin typeface="Times New Roman"/>
              </a:rPr>
              <a:t>context-aware framework</a:t>
            </a:r>
            <a:r>
              <a:rPr lang="en-IN" sz="2300" dirty="0">
                <a:latin typeface="Times New Roman"/>
              </a:rPr>
              <a:t> is needed to correlate events, assess risk, and prioritize responses in real time.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200" b="1" u="sng">
                <a:latin typeface="Times New Roman"/>
              </a:rPr>
              <a:t>OBJECTIVE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16/10/2026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9601200" cy="2878737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marL="342900" indent="-342900" algn="just">
              <a:lnSpc>
                <a:spcPct val="100000"/>
              </a:lnSpc>
              <a:spcAft>
                <a:spcPts val="1440"/>
              </a:spcAft>
              <a:buFont typeface="Arial" panose="020B0604020202020204" pitchFamily="34" charset="0"/>
              <a:buChar char="•"/>
              <a:defRPr sz="2300" b="0">
                <a:latin typeface="Times New Roman"/>
              </a:defRPr>
            </a:pPr>
            <a:r>
              <a:rPr dirty="0"/>
              <a:t>Integrate YOLO object detection, </a:t>
            </a:r>
            <a:r>
              <a:rPr dirty="0" err="1"/>
              <a:t>ByteTrack</a:t>
            </a:r>
            <a:r>
              <a:rPr dirty="0"/>
              <a:t> multi-object tracking and activity</a:t>
            </a:r>
            <a:r>
              <a:rPr lang="en-US" dirty="0"/>
              <a:t> </a:t>
            </a:r>
            <a:r>
              <a:rPr dirty="0"/>
              <a:t>recognition.</a:t>
            </a:r>
          </a:p>
          <a:p>
            <a:pPr marL="342900" indent="-342900" algn="just">
              <a:lnSpc>
                <a:spcPct val="100000"/>
              </a:lnSpc>
              <a:spcAft>
                <a:spcPts val="1440"/>
              </a:spcAft>
              <a:buFont typeface="Arial" panose="020B0604020202020204" pitchFamily="34" charset="0"/>
              <a:buChar char="•"/>
              <a:defRPr sz="2300" b="0">
                <a:latin typeface="Times New Roman"/>
              </a:defRPr>
            </a:pPr>
            <a:r>
              <a:rPr dirty="0"/>
              <a:t>Correlate related events.</a:t>
            </a:r>
          </a:p>
          <a:p>
            <a:pPr marL="342900" indent="-342900" algn="just">
              <a:lnSpc>
                <a:spcPct val="100000"/>
              </a:lnSpc>
              <a:spcAft>
                <a:spcPts val="1440"/>
              </a:spcAft>
              <a:buFont typeface="Arial" panose="020B0604020202020204" pitchFamily="34" charset="0"/>
              <a:buChar char="•"/>
              <a:defRPr sz="2300" b="0">
                <a:latin typeface="Times New Roman"/>
              </a:defRPr>
            </a:pPr>
            <a:r>
              <a:rPr dirty="0"/>
              <a:t>Estimate incident severity and prioritize incidents.</a:t>
            </a:r>
          </a:p>
          <a:p>
            <a:pPr marL="342900" indent="-342900" algn="just">
              <a:lnSpc>
                <a:spcPct val="100000"/>
              </a:lnSpc>
              <a:spcAft>
                <a:spcPts val="1440"/>
              </a:spcAft>
              <a:buFont typeface="Arial" panose="020B0604020202020204" pitchFamily="34" charset="0"/>
              <a:buChar char="•"/>
              <a:defRPr sz="2300" b="0">
                <a:latin typeface="Times New Roman"/>
              </a:defRPr>
            </a:pPr>
            <a:r>
              <a:rPr dirty="0"/>
              <a:t>Generate explainable incident reports.</a:t>
            </a:r>
          </a:p>
          <a:p>
            <a:pPr marL="342900" indent="-342900" algn="just">
              <a:lnSpc>
                <a:spcPct val="100000"/>
              </a:lnSpc>
              <a:spcAft>
                <a:spcPts val="1440"/>
              </a:spcAft>
              <a:buFont typeface="Arial" panose="020B0604020202020204" pitchFamily="34" charset="0"/>
              <a:buChar char="•"/>
              <a:defRPr sz="2300" b="0">
                <a:latin typeface="Times New Roman"/>
              </a:defRPr>
            </a:pPr>
            <a:r>
              <a:rPr dirty="0"/>
              <a:t>Assist metro operators in decision making.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200" b="1" u="sng">
                <a:latin typeface="Times New Roman"/>
              </a:rPr>
              <a:t>SCOPE AND SIGNIFICANCE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16/10/2026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9601200" cy="2524794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440"/>
              </a:spcAft>
              <a:defRPr sz="2300" b="0">
                <a:latin typeface="Times New Roman"/>
              </a:defRPr>
            </a:pPr>
            <a:r>
              <a:rPr dirty="0"/>
              <a:t>• Metro Stations, Railway Stations, Airports and Bus Terminals.</a:t>
            </a:r>
          </a:p>
          <a:p>
            <a:pPr algn="just">
              <a:lnSpc>
                <a:spcPct val="100000"/>
              </a:lnSpc>
              <a:spcAft>
                <a:spcPts val="1440"/>
              </a:spcAft>
              <a:defRPr sz="2300" b="0">
                <a:latin typeface="Times New Roman"/>
              </a:defRPr>
            </a:pPr>
            <a:r>
              <a:rPr dirty="0"/>
              <a:t>• Improves passenger safety.</a:t>
            </a:r>
          </a:p>
          <a:p>
            <a:pPr algn="just">
              <a:lnSpc>
                <a:spcPct val="100000"/>
              </a:lnSpc>
              <a:spcAft>
                <a:spcPts val="1440"/>
              </a:spcAft>
              <a:defRPr sz="2300" b="0">
                <a:latin typeface="Times New Roman"/>
              </a:defRPr>
            </a:pPr>
            <a:r>
              <a:rPr dirty="0"/>
              <a:t>• Reduces operator workload.</a:t>
            </a:r>
          </a:p>
          <a:p>
            <a:pPr algn="just">
              <a:lnSpc>
                <a:spcPct val="100000"/>
              </a:lnSpc>
              <a:spcAft>
                <a:spcPts val="1440"/>
              </a:spcAft>
              <a:defRPr sz="2300" b="0">
                <a:latin typeface="Times New Roman"/>
              </a:defRPr>
            </a:pPr>
            <a:r>
              <a:rPr dirty="0"/>
              <a:t>• Faster emergency response.</a:t>
            </a:r>
          </a:p>
          <a:p>
            <a:pPr algn="just">
              <a:lnSpc>
                <a:spcPct val="100000"/>
              </a:lnSpc>
              <a:spcAft>
                <a:spcPts val="1440"/>
              </a:spcAft>
              <a:defRPr sz="2300" b="0">
                <a:latin typeface="Times New Roman"/>
              </a:defRPr>
            </a:pPr>
            <a:r>
              <a:rPr dirty="0"/>
              <a:t>• Supports Smart City surveillance.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LITERATURE REVIEW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16/10/2026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44168"/>
            <a:ext cx="475488" cy="438912"/>
          </a:xfrm>
          <a:prstGeom prst="rect">
            <a:avLst/>
          </a:prstGeom>
          <a:solidFill>
            <a:srgbClr val="17345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No.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1344168"/>
            <a:ext cx="4754880" cy="438912"/>
          </a:xfrm>
          <a:prstGeom prst="rect">
            <a:avLst/>
          </a:prstGeom>
          <a:solidFill>
            <a:srgbClr val="17345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Paper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779008" y="1344168"/>
            <a:ext cx="2980944" cy="438912"/>
          </a:xfrm>
          <a:prstGeom prst="rect">
            <a:avLst/>
          </a:prstGeom>
          <a:solidFill>
            <a:srgbClr val="17345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Key Features Introduced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59952" y="1344168"/>
            <a:ext cx="2926080" cy="438912"/>
          </a:xfrm>
          <a:prstGeom prst="rect">
            <a:avLst/>
          </a:prstGeom>
          <a:solidFill>
            <a:srgbClr val="17345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Relevance to Project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475488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D26"/>
                </a:solidFill>
                <a:latin typeface="Times New Roman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1783080"/>
            <a:ext cx="4754880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110" b="1">
                <a:solidFill>
                  <a:srgbClr val="161D26"/>
                </a:solidFill>
                <a:latin typeface="Times New Roman"/>
              </a:rPr>
              <a:t>ABDviaMSIFAT: Abnormal Crowd Behavior Detection Utilizing a Multi-Source Information Fusion Technique [1]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79008" y="1783080"/>
            <a:ext cx="2980944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Dual visual and motion feature extraction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Weighted multi-source score fusion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59952" y="1783080"/>
            <a:ext cx="2926080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Provides a basis for multi-source incident fusion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Supports contextual event correlation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42615"/>
            <a:ext cx="475488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D26"/>
                </a:solidFill>
                <a:latin typeface="Times New Roman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" y="2642615"/>
            <a:ext cx="475488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110" b="1">
                <a:solidFill>
                  <a:srgbClr val="161D26"/>
                </a:solidFill>
                <a:latin typeface="Times New Roman"/>
              </a:rPr>
              <a:t>Intelligent Anomaly Detection and Localization With Crowd Density Estimation for Improved Public Safety [2]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79008" y="2642615"/>
            <a:ext cx="298094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Crowd-density estimation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Anomaly localization heatmaps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59952" y="2642615"/>
            <a:ext cx="292608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Crowd density can be a risk input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Supports the crowd module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02152"/>
            <a:ext cx="475488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D26"/>
                </a:solidFill>
                <a:latin typeface="Times New Roman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" y="3502152"/>
            <a:ext cx="4754880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110" b="1">
                <a:solidFill>
                  <a:srgbClr val="161D26"/>
                </a:solidFill>
                <a:latin typeface="Times New Roman"/>
              </a:rPr>
              <a:t>Abandoned Object Detection and Classification Using Deep Embedded Vision [3]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79008" y="3502152"/>
            <a:ext cx="2980944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Deep embedded vision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Background and feature classification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59952" y="3502152"/>
            <a:ext cx="2926080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Supports object classification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Provides scene-adaptive background cues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61688"/>
            <a:ext cx="475488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D26"/>
                </a:solidFill>
                <a:latin typeface="Times New Roman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4128" y="4361688"/>
            <a:ext cx="475488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110" b="1">
                <a:solidFill>
                  <a:srgbClr val="161D26"/>
                </a:solidFill>
                <a:latin typeface="Times New Roman"/>
              </a:rPr>
              <a:t>Abnormal Activity Detection and Classification of Bus Passengers With In-Vehicle Image Sensing [4]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79008" y="4361688"/>
            <a:ext cx="298094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Abnormal passenger activity detection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Fighting, falling and suspicious actions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4361688"/>
            <a:ext cx="292608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Relevant to public-transport safety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Supports event-category selection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221224"/>
            <a:ext cx="475488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D26"/>
                </a:solidFill>
                <a:latin typeface="Times New Roman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128" y="5221224"/>
            <a:ext cx="4754880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110" b="1">
                <a:solidFill>
                  <a:srgbClr val="161D26"/>
                </a:solidFill>
                <a:latin typeface="Times New Roman"/>
              </a:rPr>
              <a:t>Towards Surveillance Video-and-Language Understanding: New Dataset, Baselines, and Challenges [5]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79008" y="5221224"/>
            <a:ext cx="2980944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Surveillance video-language dataset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Event descriptions and baselines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59952" y="5221224"/>
            <a:ext cx="2926080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Supports explainable incident summaries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Improves operator alert clarity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LITERATURE REVIEW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16/10/2026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44168"/>
            <a:ext cx="475488" cy="438912"/>
          </a:xfrm>
          <a:prstGeom prst="rect">
            <a:avLst/>
          </a:prstGeom>
          <a:solidFill>
            <a:srgbClr val="17345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No.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1344168"/>
            <a:ext cx="4754880" cy="438912"/>
          </a:xfrm>
          <a:prstGeom prst="rect">
            <a:avLst/>
          </a:prstGeom>
          <a:solidFill>
            <a:srgbClr val="17345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Paper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779008" y="1344168"/>
            <a:ext cx="2980944" cy="438912"/>
          </a:xfrm>
          <a:prstGeom prst="rect">
            <a:avLst/>
          </a:prstGeom>
          <a:solidFill>
            <a:srgbClr val="17345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Key Features Introduced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59952" y="1344168"/>
            <a:ext cx="2926080" cy="438912"/>
          </a:xfrm>
          <a:prstGeom prst="rect">
            <a:avLst/>
          </a:prstGeom>
          <a:solidFill>
            <a:srgbClr val="17345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Relevance to Project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475488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D26"/>
                </a:solidFill>
                <a:latin typeface="Times New Roman"/>
              </a:rP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1783080"/>
            <a:ext cx="4754880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110" b="1">
                <a:solidFill>
                  <a:srgbClr val="161D26"/>
                </a:solidFill>
                <a:latin typeface="Times New Roman"/>
              </a:rPr>
              <a:t>A Two-Stage Spatiotemporal CNN-YOLOv9 Framework for High-Precision Real-Time Abandoned Object Detection in Public Surveillance Videos [6]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79008" y="1783080"/>
            <a:ext cx="2980944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Two-stage CNN-YOLOv9 approach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Spatio-temporal ownership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59952" y="1783080"/>
            <a:ext cx="2926080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Supports detect-then-analyse design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Handles crowded and occluded scenes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42615"/>
            <a:ext cx="475488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D26"/>
                </a:solidFill>
                <a:latin typeface="Times New Roman"/>
              </a:rPr>
              <a:t>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" y="2642615"/>
            <a:ext cx="475488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110" b="1">
                <a:solidFill>
                  <a:srgbClr val="161D26"/>
                </a:solidFill>
                <a:latin typeface="Times New Roman"/>
              </a:rPr>
              <a:t>A Multi Object Tracking Framework Based on YOLOv8s and ByteTrack Algorithm [7]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79008" y="2642615"/>
            <a:ext cx="298094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YOLO detection with ByteTrack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Persistent identities across frames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59952" y="2642615"/>
            <a:ext cx="292608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Directly supports our tracking backbone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Enables temporal event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02152"/>
            <a:ext cx="475488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D26"/>
                </a:solidFill>
                <a:latin typeface="Times New Roman"/>
              </a:rPr>
              <a:t>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" y="3502152"/>
            <a:ext cx="4754880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110" b="1">
                <a:solidFill>
                  <a:srgbClr val="161D26"/>
                </a:solidFill>
                <a:latin typeface="Times New Roman"/>
              </a:rPr>
              <a:t>Leveraging Fusion Methods of Human Pose and Motion Dynamics for Accurate Violence Detection in Video Surveillance [8]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79008" y="3502152"/>
            <a:ext cx="2980944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Human-pose and motion fusion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Skeleton and optical-flow features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59952" y="3502152"/>
            <a:ext cx="2926080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Supports fight-detection features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Can complement object detection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61688"/>
            <a:ext cx="475488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D26"/>
                </a:solidFill>
                <a:latin typeface="Times New Roman"/>
              </a:rPr>
              <a:t>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4128" y="4361688"/>
            <a:ext cx="475488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110" b="1">
                <a:solidFill>
                  <a:srgbClr val="161D26"/>
                </a:solidFill>
                <a:latin typeface="Times New Roman"/>
              </a:rPr>
              <a:t>Context-aware Video Anomaly Detection in Long-Term Datasets [9]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79008" y="4361688"/>
            <a:ext cx="298094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Long-term temporal context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Context-based anomaly classification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4361688"/>
            <a:ext cx="292608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Shows the value of scene context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Helps reduce isolated alerts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221224"/>
            <a:ext cx="475488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D26"/>
                </a:solidFill>
                <a:latin typeface="Times New Roman"/>
              </a:rPr>
              <a:t>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128" y="5221224"/>
            <a:ext cx="4754880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110" b="1">
                <a:solidFill>
                  <a:srgbClr val="161D26"/>
                </a:solidFill>
                <a:latin typeface="Times New Roman"/>
              </a:rPr>
              <a:t>Spatio-Temporal Semantic Algorithm for Video Anomaly Detection from Monitoring Perspectives [10]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79008" y="5221224"/>
            <a:ext cx="2980944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Spatial, temporal and semantic features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Monitoring-oriented anomaly analysis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59952" y="5221224"/>
            <a:ext cx="2926080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Supports scene-level understanding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Motivates multi-context reasoning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LITERATURE REVIEW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16/10/2026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44168"/>
            <a:ext cx="475488" cy="438912"/>
          </a:xfrm>
          <a:prstGeom prst="rect">
            <a:avLst/>
          </a:prstGeom>
          <a:solidFill>
            <a:srgbClr val="17345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No.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1344168"/>
            <a:ext cx="4754880" cy="438912"/>
          </a:xfrm>
          <a:prstGeom prst="rect">
            <a:avLst/>
          </a:prstGeom>
          <a:solidFill>
            <a:srgbClr val="17345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Paper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779008" y="1344168"/>
            <a:ext cx="2980944" cy="438912"/>
          </a:xfrm>
          <a:prstGeom prst="rect">
            <a:avLst/>
          </a:prstGeom>
          <a:solidFill>
            <a:srgbClr val="17345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Key Features Introduced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59952" y="1344168"/>
            <a:ext cx="2926080" cy="438912"/>
          </a:xfrm>
          <a:prstGeom prst="rect">
            <a:avLst/>
          </a:prstGeom>
          <a:solidFill>
            <a:srgbClr val="17345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Relevance to Project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475488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D26"/>
                </a:solidFill>
                <a:latin typeface="Times New Roman"/>
              </a:rPr>
              <a:t>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1783080"/>
            <a:ext cx="4754880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110" b="1">
                <a:solidFill>
                  <a:srgbClr val="161D26"/>
                </a:solidFill>
                <a:latin typeface="Times New Roman"/>
              </a:rPr>
              <a:t>Graph-Based Knowledge Driven Approach for Violence Detection [11]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79008" y="1783080"/>
            <a:ext cx="2980944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Spatial-temporal knowledge graphs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Graph-based violence reasoning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59952" y="1783080"/>
            <a:ext cx="2926080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Supports context fusion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Helps higher-level incident reasoning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42615"/>
            <a:ext cx="475488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D26"/>
                </a:solidFill>
                <a:latin typeface="Times New Roman"/>
              </a:rPr>
              <a:t>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" y="2642615"/>
            <a:ext cx="475488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110" b="1">
                <a:solidFill>
                  <a:srgbClr val="161D26"/>
                </a:solidFill>
                <a:latin typeface="Times New Roman"/>
              </a:rPr>
              <a:t>Action Knowledge Graph for Violence Detection Using Audiovisual Features [12]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79008" y="2642615"/>
            <a:ext cx="298094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Knowledge graph for violence context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Audiovisual feature fusion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59952" y="2642615"/>
            <a:ext cx="292608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Supports relationship-aware reasoning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Helps describe violent incidents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02152"/>
            <a:ext cx="475488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D26"/>
                </a:solidFill>
                <a:latin typeface="Times New Roman"/>
              </a:rPr>
              <a:t>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" y="3502152"/>
            <a:ext cx="4754880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110" b="1">
                <a:solidFill>
                  <a:srgbClr val="161D26"/>
                </a:solidFill>
                <a:latin typeface="Times New Roman"/>
              </a:rPr>
              <a:t>Real-Time Video Surveillance Analysis at the Edge in Smart Cities [13]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79008" y="3502152"/>
            <a:ext cx="2980944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Edge AI for real-time video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Detection, tracking and event correlation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59952" y="3502152"/>
            <a:ext cx="2926080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Supports low-latency deployment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Fits CCTV-based metro systems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61688"/>
            <a:ext cx="475488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D26"/>
                </a:solidFill>
                <a:latin typeface="Times New Roman"/>
              </a:rPr>
              <a:t>14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4128" y="4361688"/>
            <a:ext cx="475488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110" b="1">
                <a:solidFill>
                  <a:srgbClr val="161D26"/>
                </a:solidFill>
                <a:latin typeface="Times New Roman"/>
              </a:rPr>
              <a:t>VD-Net: An Edge Vision-Based Surveillance System for Violence Detection [14]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79008" y="4361688"/>
            <a:ext cx="298094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Lightweight edge violence detection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Low-compute real-time design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4361688"/>
            <a:ext cx="292608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Supports near-real-time fight detection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Fits edge deployment needs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221224"/>
            <a:ext cx="475488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D26"/>
                </a:solidFill>
                <a:latin typeface="Times New Roman"/>
              </a:rPr>
              <a:t>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128" y="5221224"/>
            <a:ext cx="4754880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110" b="1">
                <a:solidFill>
                  <a:srgbClr val="161D26"/>
                </a:solidFill>
                <a:latin typeface="Times New Roman"/>
              </a:rPr>
              <a:t>An Attention-Based Unsupervised Framework for Video Anomaly Detection in Large Heterogeneous Environments [15]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79008" y="5221224"/>
            <a:ext cx="2980944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Attention-based anomaly regions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Unsupervised learning for CCTV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59952" y="5221224"/>
            <a:ext cx="2926080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Helps handle diverse camera views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Reduces label requirements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LITERATURE REVIEW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16/10/2026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44168"/>
            <a:ext cx="475488" cy="438912"/>
          </a:xfrm>
          <a:prstGeom prst="rect">
            <a:avLst/>
          </a:prstGeom>
          <a:solidFill>
            <a:srgbClr val="17345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No.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1344168"/>
            <a:ext cx="4754880" cy="438912"/>
          </a:xfrm>
          <a:prstGeom prst="rect">
            <a:avLst/>
          </a:prstGeom>
          <a:solidFill>
            <a:srgbClr val="17345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Paper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779008" y="1344168"/>
            <a:ext cx="2980944" cy="438912"/>
          </a:xfrm>
          <a:prstGeom prst="rect">
            <a:avLst/>
          </a:prstGeom>
          <a:solidFill>
            <a:srgbClr val="17345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Key Features Introduced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59952" y="1344168"/>
            <a:ext cx="2926080" cy="438912"/>
          </a:xfrm>
          <a:prstGeom prst="rect">
            <a:avLst/>
          </a:prstGeom>
          <a:solidFill>
            <a:srgbClr val="17345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Relevance to Project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475488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D26"/>
                </a:solidFill>
                <a:latin typeface="Times New Roman"/>
              </a:rPr>
              <a:t>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1783080"/>
            <a:ext cx="4754880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110" b="1">
                <a:solidFill>
                  <a:srgbClr val="161D26"/>
                </a:solidFill>
                <a:latin typeface="Times New Roman"/>
              </a:rPr>
              <a:t>Real-Time Human Group Detection and Clustering in Crowded Environments Using Enhanced Multi-Object Tracking [16]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79008" y="1783080"/>
            <a:ext cx="2980944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Enhanced multi-object tracking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Proximity and trajectory clustering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59952" y="1783080"/>
            <a:ext cx="2926080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Adds group-level context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Complements ByteTrack tracking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42615"/>
            <a:ext cx="475488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D26"/>
                </a:solidFill>
                <a:latin typeface="Times New Roman"/>
              </a:rPr>
              <a:t>17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" y="2642615"/>
            <a:ext cx="475488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110" b="1">
                <a:solidFill>
                  <a:srgbClr val="161D26"/>
                </a:solidFill>
                <a:latin typeface="Times New Roman"/>
              </a:rPr>
              <a:t>Multi-Scale Video Anomaly Detection by Multi-Grained Spatio-Temporal Representation Learning [17]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79008" y="2642615"/>
            <a:ext cx="298094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Multi-scale spatio-temporal features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Local and global anomaly learning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59952" y="2642615"/>
            <a:ext cx="292608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Useful for people, crowds and objects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Supports multi-level event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02152"/>
            <a:ext cx="475488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D26"/>
                </a:solidFill>
                <a:latin typeface="Times New Roman"/>
              </a:rPr>
              <a:t>18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" y="3502152"/>
            <a:ext cx="4754880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110" b="1">
                <a:solidFill>
                  <a:srgbClr val="161D26"/>
                </a:solidFill>
                <a:latin typeface="Times New Roman"/>
              </a:rPr>
              <a:t>CFTformer: End-to-End Cross-Frame Multi-Object Tracking With Transformer [18]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79008" y="3502152"/>
            <a:ext cx="2980944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Cross-frame transformer tracking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Trajectory refinement and attention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59952" y="3502152"/>
            <a:ext cx="2926080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Suggests a future tracking upgrade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Helps reduce identity switches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61688"/>
            <a:ext cx="475488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D26"/>
                </a:solidFill>
                <a:latin typeface="Times New Roman"/>
              </a:rPr>
              <a:t>19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4128" y="4361688"/>
            <a:ext cx="475488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110" b="1">
                <a:solidFill>
                  <a:srgbClr val="161D26"/>
                </a:solidFill>
                <a:latin typeface="Times New Roman"/>
              </a:rPr>
              <a:t>SCL-YOLOv11: A Lightweight Object Detection Network for Low-Illumination Environments [19]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79008" y="4361688"/>
            <a:ext cx="298094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Lightweight YOLOv11 for low light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Image enhancement and distillation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4361688"/>
            <a:ext cx="292608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Supports poorly lit metro scenes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Improves robust object detection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221224"/>
            <a:ext cx="475488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D26"/>
                </a:solidFill>
                <a:latin typeface="Times New Roman"/>
              </a:rPr>
              <a:t>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128" y="5221224"/>
            <a:ext cx="4754880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ctr"/>
          <a:lstStyle/>
          <a:p>
            <a:pPr algn="ctr">
              <a:spcAft>
                <a:spcPts val="0"/>
              </a:spcAft>
            </a:pPr>
            <a:r>
              <a:rPr sz="1110" b="1">
                <a:solidFill>
                  <a:srgbClr val="161D26"/>
                </a:solidFill>
                <a:latin typeface="Times New Roman"/>
              </a:rPr>
              <a:t>Online Action Detection by Long Short-Term Transformer with Query Exemplars [20]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79008" y="5221224"/>
            <a:ext cx="2980944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Long Short-Term Transformer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Online temporal action detection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59952" y="5221224"/>
            <a:ext cx="2926080" cy="859536"/>
          </a:xfrm>
          <a:prstGeom prst="rect">
            <a:avLst/>
          </a:prstGeom>
          <a:solidFill>
            <a:srgbClr val="EFF4F8"/>
          </a:solidFill>
          <a:ln w="635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54864" bIns="27432" rtlCol="0" anchor="t"/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Supports streaming event analysis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161D26"/>
                </a:solidFill>
                <a:latin typeface="Times New Roman"/>
              </a:rPr>
              <a:t>• Useful for fight localization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200" b="1" u="sng">
                <a:latin typeface="Times New Roman"/>
              </a:rPr>
              <a:t>BLOCK DIAGRAM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16/10/2026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12</a:t>
            </a:r>
          </a:p>
        </p:txBody>
      </p:sp>
      <p:pic>
        <p:nvPicPr>
          <p:cNvPr id="7" name="Picture 6" descr="zeroth_p7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234440"/>
            <a:ext cx="854964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200" b="1" u="sng">
                <a:latin typeface="Times New Roman"/>
              </a:rPr>
              <a:t>METHODOLOGY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16/10/2026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353312"/>
            <a:ext cx="9784080" cy="452628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1152"/>
              </a:spcAft>
              <a:defRPr sz="2100" b="0">
                <a:latin typeface="Times New Roman"/>
              </a:defRPr>
            </a:pPr>
            <a:r>
              <a:rPr dirty="0"/>
              <a:t>• CCTV feeds are processed through preprocessing.</a:t>
            </a:r>
          </a:p>
          <a:p>
            <a:pPr algn="l">
              <a:lnSpc>
                <a:spcPct val="100000"/>
              </a:lnSpc>
              <a:spcAft>
                <a:spcPts val="1152"/>
              </a:spcAft>
              <a:defRPr sz="2100" b="0">
                <a:latin typeface="Times New Roman"/>
              </a:defRPr>
            </a:pPr>
            <a:r>
              <a:rPr dirty="0"/>
              <a:t>• YOLOv11 detects people and objects in each frame.</a:t>
            </a:r>
          </a:p>
          <a:p>
            <a:pPr algn="l">
              <a:lnSpc>
                <a:spcPct val="100000"/>
              </a:lnSpc>
              <a:spcAft>
                <a:spcPts val="1152"/>
              </a:spcAft>
              <a:defRPr sz="2100" b="0">
                <a:latin typeface="Times New Roman"/>
              </a:defRPr>
            </a:pPr>
            <a:r>
              <a:rPr dirty="0"/>
              <a:t>• </a:t>
            </a:r>
            <a:r>
              <a:rPr dirty="0" err="1"/>
              <a:t>ByteTrack</a:t>
            </a:r>
            <a:r>
              <a:rPr dirty="0"/>
              <a:t> follows detected entities across frames.</a:t>
            </a:r>
          </a:p>
          <a:p>
            <a:pPr algn="l">
              <a:lnSpc>
                <a:spcPct val="100000"/>
              </a:lnSpc>
              <a:spcAft>
                <a:spcPts val="1152"/>
              </a:spcAft>
              <a:defRPr sz="2100" b="0">
                <a:latin typeface="Times New Roman"/>
              </a:defRPr>
            </a:pPr>
            <a:r>
              <a:rPr dirty="0"/>
              <a:t>• Fight, crowd and abandoned-object modules run in parallel.</a:t>
            </a:r>
          </a:p>
          <a:p>
            <a:pPr algn="l">
              <a:lnSpc>
                <a:spcPct val="100000"/>
              </a:lnSpc>
              <a:spcAft>
                <a:spcPts val="1152"/>
              </a:spcAft>
              <a:defRPr sz="2100" b="0">
                <a:latin typeface="Times New Roman"/>
              </a:defRPr>
            </a:pPr>
            <a:r>
              <a:rPr dirty="0"/>
              <a:t>• Event and context analysis assesses context and risk.</a:t>
            </a:r>
          </a:p>
          <a:p>
            <a:pPr algn="l">
              <a:lnSpc>
                <a:spcPct val="100000"/>
              </a:lnSpc>
              <a:spcAft>
                <a:spcPts val="1152"/>
              </a:spcAft>
              <a:defRPr sz="2100" b="0">
                <a:latin typeface="Times New Roman"/>
              </a:defRPr>
            </a:pPr>
            <a:r>
              <a:rPr dirty="0"/>
              <a:t>• The system generates priority level and incident summary.</a:t>
            </a:r>
          </a:p>
          <a:p>
            <a:pPr algn="l">
              <a:lnSpc>
                <a:spcPct val="100000"/>
              </a:lnSpc>
              <a:spcAft>
                <a:spcPts val="1152"/>
              </a:spcAft>
              <a:defRPr sz="2100" b="0">
                <a:latin typeface="Times New Roman"/>
              </a:defRPr>
            </a:pPr>
            <a:r>
              <a:rPr dirty="0"/>
              <a:t>• Results are pushed to an interactive dashboard for real-time alerts.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3800" b="1">
                <a:latin typeface="Times New Roman"/>
              </a:rPr>
              <a:t>DASHBOARD – VIDEO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16/10/2026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14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pic>
        <p:nvPicPr>
          <p:cNvPr id="8" name="Picture 7" descr="PHOTO-2026-10-15-19-35-35(3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1307592"/>
            <a:ext cx="8979408" cy="46817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80160" y="6007608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323232"/>
                </a:solidFill>
                <a:latin typeface="Times New Roman"/>
              </a:rPr>
              <a:t>Phase-I operator dashboard: video selection, region settings and occupancy thresholds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3800" b="1">
                <a:latin typeface="Times New Roman"/>
              </a:rPr>
              <a:t>CROWD MONITORING –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16/10/2026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pic>
        <p:nvPicPr>
          <p:cNvPr id="8" name="Picture 7" descr="PHOTO-2026-10-15-19-35-35(2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1307592"/>
            <a:ext cx="8979408" cy="46817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80160" y="6007608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323232"/>
                </a:solidFill>
                <a:latin typeface="Times New Roman"/>
              </a:rPr>
              <a:t>Demonstration frame: 39 people in ROI, HIGH occupancy status, active event log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3800" b="1">
                <a:latin typeface="Times New Roman"/>
              </a:rPr>
              <a:t>WORK TILL DATE – PHASE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16/10/2026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16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1298448"/>
            <a:ext cx="10195560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</a:pPr>
            <a:r>
              <a:rPr sz="2400">
                <a:solidFill>
                  <a:srgbClr val="0A0A0A"/>
                </a:solidFill>
                <a:latin typeface="Times New Roman"/>
              </a:rPr>
              <a:t>•  Video upload and local-path input through the Streamlit dashboard.</a:t>
            </a:r>
          </a:p>
          <a:p>
            <a:pPr>
              <a:spcAft>
                <a:spcPts val="1900"/>
              </a:spcAft>
            </a:pPr>
            <a:r>
              <a:rPr sz="2400">
                <a:solidFill>
                  <a:srgbClr val="0A0A0A"/>
                </a:solidFill>
                <a:latin typeface="Times New Roman"/>
              </a:rPr>
              <a:t>•  YOLOv11s person detection with ByteTrack identity association.</a:t>
            </a:r>
          </a:p>
          <a:p>
            <a:pPr>
              <a:spcAft>
                <a:spcPts val="1900"/>
              </a:spcAft>
            </a:pPr>
            <a:r>
              <a:rPr sz="2400">
                <a:solidFill>
                  <a:srgbClr val="0A0A0A"/>
                </a:solidFill>
                <a:latin typeface="Times New Roman"/>
              </a:rPr>
              <a:t>•  Selectable Region of Interest (ROI) and ground-contact person counting.</a:t>
            </a:r>
          </a:p>
          <a:p>
            <a:pPr>
              <a:spcAft>
                <a:spcPts val="1900"/>
              </a:spcAft>
            </a:pPr>
            <a:r>
              <a:rPr sz="2400">
                <a:solidFill>
                  <a:srgbClr val="0A0A0A"/>
                </a:solidFill>
                <a:latin typeface="Times New Roman"/>
              </a:rPr>
              <a:t>•  LOW / MEDIUM / HIGH occupancy status with configurable thresholds.</a:t>
            </a:r>
          </a:p>
          <a:p>
            <a:pPr>
              <a:spcAft>
                <a:spcPts val="1900"/>
              </a:spcAft>
            </a:pPr>
            <a:r>
              <a:rPr sz="2400">
                <a:solidFill>
                  <a:srgbClr val="0A0A0A"/>
                </a:solidFill>
                <a:latin typeface="Times New Roman"/>
              </a:rPr>
              <a:t>•  Live annotated video, people count and timestamped event log.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3800" b="1">
                <a:latin typeface="Times New Roman"/>
              </a:rPr>
              <a:t>TECHNOLOGIES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16/10/2026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298448"/>
            <a:ext cx="10195560" cy="2913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</a:pPr>
            <a:r>
              <a:rPr sz="2400">
                <a:solidFill>
                  <a:srgbClr val="0A0A0A"/>
                </a:solidFill>
                <a:latin typeface="Times New Roman"/>
              </a:rPr>
              <a:t>•  YOLOv11s: detects commuters in each CCTV video frame.</a:t>
            </a:r>
          </a:p>
          <a:p>
            <a:pPr>
              <a:spcAft>
                <a:spcPts val="1900"/>
              </a:spcAft>
            </a:pPr>
            <a:r>
              <a:rPr sz="2400">
                <a:solidFill>
                  <a:srgbClr val="0A0A0A"/>
                </a:solidFill>
                <a:latin typeface="Times New Roman"/>
              </a:rPr>
              <a:t>•  ByteTrack: maintains tracking IDs across successive frames.</a:t>
            </a:r>
          </a:p>
          <a:p>
            <a:pPr>
              <a:spcAft>
                <a:spcPts val="1900"/>
              </a:spcAft>
            </a:pPr>
            <a:r>
              <a:rPr sz="2400">
                <a:solidFill>
                  <a:srgbClr val="0A0A0A"/>
                </a:solidFill>
                <a:latin typeface="Times New Roman"/>
              </a:rPr>
              <a:t>•  OpenCV: decodes video and draws zones, boxes and annotations.</a:t>
            </a:r>
          </a:p>
          <a:p>
            <a:pPr>
              <a:spcAft>
                <a:spcPts val="1900"/>
              </a:spcAft>
            </a:pPr>
            <a:r>
              <a:rPr sz="2400">
                <a:solidFill>
                  <a:srgbClr val="0A0A0A"/>
                </a:solidFill>
                <a:latin typeface="Times New Roman"/>
              </a:rPr>
              <a:t>•  Streamlit: provides operator controls, live indicators and event logs.</a:t>
            </a:r>
          </a:p>
          <a:p>
            <a:pPr>
              <a:spcAft>
                <a:spcPts val="1900"/>
              </a:spcAft>
            </a:pPr>
            <a:r>
              <a:rPr sz="2400">
                <a:solidFill>
                  <a:srgbClr val="0A0A0A"/>
                </a:solidFill>
                <a:latin typeface="Times New Roman"/>
              </a:rPr>
              <a:t>•  ROI footpoint filtering: counts people standing within the selected zone.</a:t>
            </a:r>
          </a:p>
        </p:txBody>
      </p:sp>
      <p:pic>
        <p:nvPicPr>
          <p:cNvPr id="11" name="Picture 10" descr="image1.jpeg">
            <a:extLst>
              <a:ext uri="{FF2B5EF4-FFF2-40B4-BE49-F238E27FC236}">
                <a16:creationId xmlns:a16="http://schemas.microsoft.com/office/drawing/2014/main" id="{EA64E64A-E43A-4947-D1E5-CCD76DA17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0994" y="301752"/>
            <a:ext cx="629371" cy="5821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3800" b="1">
                <a:latin typeface="Times New Roman"/>
              </a:rPr>
              <a:t>TAM – TARGET TRACKING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16/10/2026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298448"/>
            <a:ext cx="10195560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</a:pPr>
            <a:r>
              <a:rPr sz="2400">
                <a:solidFill>
                  <a:srgbClr val="0A0A0A"/>
                </a:solidFill>
                <a:latin typeface="Times New Roman"/>
              </a:rPr>
              <a:t>•  YOLOv11s and ByteTrack identify and follow a selected person.</a:t>
            </a:r>
          </a:p>
          <a:p>
            <a:pPr>
              <a:spcAft>
                <a:spcPts val="1900"/>
              </a:spcAft>
            </a:pPr>
            <a:r>
              <a:rPr sz="2400">
                <a:solidFill>
                  <a:srgbClr val="0A0A0A"/>
                </a:solidFill>
                <a:latin typeface="Times New Roman"/>
              </a:rPr>
              <a:t>•  MobileSAM uses a tracked box as a prompt for silhouette segmentation.</a:t>
            </a:r>
          </a:p>
          <a:p>
            <a:pPr>
              <a:spcAft>
                <a:spcPts val="1900"/>
              </a:spcAft>
            </a:pPr>
            <a:r>
              <a:rPr sz="2400">
                <a:solidFill>
                  <a:srgbClr val="0A0A0A"/>
                </a:solidFill>
                <a:latin typeface="Times New Roman"/>
              </a:rPr>
              <a:t>•  Target telemetry includes dwell time, trajectory and ROI position.</a:t>
            </a:r>
          </a:p>
          <a:p>
            <a:pPr>
              <a:spcAft>
                <a:spcPts val="1900"/>
              </a:spcAft>
            </a:pPr>
            <a:r>
              <a:rPr sz="2400">
                <a:solidFill>
                  <a:srgbClr val="0A0A0A"/>
                </a:solidFill>
                <a:latin typeface="Times New Roman"/>
              </a:rPr>
              <a:t>•  This is distinct from the crowd-density demonstration shown earlier.</a:t>
            </a:r>
          </a:p>
        </p:txBody>
      </p:sp>
      <p:pic>
        <p:nvPicPr>
          <p:cNvPr id="11" name="Picture 10" descr="image1.jpeg">
            <a:extLst>
              <a:ext uri="{FF2B5EF4-FFF2-40B4-BE49-F238E27FC236}">
                <a16:creationId xmlns:a16="http://schemas.microsoft.com/office/drawing/2014/main" id="{D25E43A3-355C-15F2-43D1-200C36ECC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0994" y="301752"/>
            <a:ext cx="629371" cy="5821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200" b="1" u="sng">
                <a:latin typeface="Times New Roman"/>
              </a:rPr>
              <a:t>WORK PLAN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309" y="201168"/>
            <a:ext cx="629371" cy="582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16/10/2026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60120" y="1417320"/>
          <a:ext cx="102412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3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7422">
                <a:tc>
                  <a:txBody>
                    <a:bodyPr/>
                    <a:lstStyle/>
                    <a:p>
                      <a:pPr algn="ctr">
                        <a:defRPr sz="2000" b="1">
                          <a:latin typeface="Times New Roman"/>
                        </a:defRPr>
                      </a:pPr>
                      <a:r>
                        <a:t>Phase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1">
                          <a:latin typeface="Times New Roman"/>
                        </a:defRPr>
                      </a:pPr>
                      <a:r>
                        <a:t>Major Tasks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900" b="0">
                          <a:latin typeface="Times New Roman"/>
                        </a:defRPr>
                      </a:pPr>
                      <a:r>
                        <a:t>1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latin typeface="Times New Roman"/>
                        </a:defRPr>
                      </a:pPr>
                      <a:r>
                        <a:t>Literature study and requirements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900" b="0">
                          <a:latin typeface="Times New Roman"/>
                        </a:defRPr>
                      </a:pPr>
                      <a:r>
                        <a:t>2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latin typeface="Times New Roman"/>
                        </a:defRPr>
                      </a:pPr>
                      <a:r>
                        <a:t>Dataset preparation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900" b="0">
                          <a:latin typeface="Times New Roman"/>
                        </a:defRPr>
                      </a:pPr>
                      <a:r>
                        <a:t>3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latin typeface="Times New Roman"/>
                        </a:defRPr>
                      </a:pPr>
                      <a:r>
                        <a:t>Detection and tracking modules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900" b="0">
                          <a:latin typeface="Times New Roman"/>
                        </a:defRPr>
                      </a:pPr>
                      <a:r>
                        <a:t>4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latin typeface="Times New Roman"/>
                        </a:defRPr>
                      </a:pPr>
                      <a:r>
                        <a:t>Incident reasoning and risk assessment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900" b="0">
                          <a:latin typeface="Times New Roman"/>
                        </a:defRPr>
                      </a:pPr>
                      <a:r>
                        <a:t>5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latin typeface="Times New Roman"/>
                        </a:defRPr>
                      </a:pPr>
                      <a:r>
                        <a:t>Dashboard and system integration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428">
                <a:tc>
                  <a:txBody>
                    <a:bodyPr/>
                    <a:lstStyle/>
                    <a:p>
                      <a:pPr algn="ctr">
                        <a:defRPr sz="1900" b="0">
                          <a:latin typeface="Times New Roman"/>
                        </a:defRPr>
                      </a:pPr>
                      <a:r>
                        <a:t>6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latin typeface="Times New Roman"/>
                        </a:defRPr>
                      </a:pPr>
                      <a:r>
                        <a:t>Testing, evaluation and documentation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9" name="Picture 8" descr="image1.jpeg">
            <a:extLst>
              <a:ext uri="{FF2B5EF4-FFF2-40B4-BE49-F238E27FC236}">
                <a16:creationId xmlns:a16="http://schemas.microsoft.com/office/drawing/2014/main" id="{A590295B-FD84-F143-631D-AF42273FD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1311" y="222504"/>
            <a:ext cx="629371" cy="582168"/>
          </a:xfrm>
          <a:prstGeom prst="rect">
            <a:avLst/>
          </a:prstGeom>
        </p:spPr>
      </p:pic>
      <p:pic>
        <p:nvPicPr>
          <p:cNvPr id="8" name="Picture 9">
            <a:extLst>
              <a:ext uri="{FF2B5EF4-FFF2-40B4-BE49-F238E27FC236}">
                <a16:creationId xmlns:a16="http://schemas.microsoft.com/office/drawing/2014/main" id="{AD41DE0D-297A-E344-D1B9-0ACA337DB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676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200" b="1" u="sng">
                <a:latin typeface="Times New Roman"/>
              </a:rPr>
              <a:t>GANNT CHART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16/10/2026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1568" y="1188720"/>
            <a:ext cx="13807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JUL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8032" y="1188720"/>
            <a:ext cx="13807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481328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Times New Roman"/>
              </a:rPr>
              <a:t>Literature &amp; requirements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49961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0" y="149961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28031" y="149961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541264" y="149961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54496" y="149961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67728" y="149961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80960" y="149961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94192" y="149961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Times New Roman"/>
              </a:rPr>
              <a:t>Dataset preparation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1568" y="194767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0" y="194767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828031" y="194767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541264" y="194767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54496" y="194767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967728" y="194767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680960" y="194767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394192" y="194767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2377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Times New Roman"/>
              </a:rPr>
              <a:t>Detection modules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01568" y="2395728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114800" y="2395728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828031" y="2395728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541264" y="2395728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54496" y="2395728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967728" y="2395728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680960" y="2395728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394192" y="2395728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282549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Times New Roman"/>
              </a:rPr>
              <a:t>Tracking &amp; event extraction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01568" y="2843784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114800" y="2843784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828031" y="2843784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541264" y="2843784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254496" y="2843784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967728" y="2843784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680960" y="2843784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394192" y="2843784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0080" y="327355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Times New Roman"/>
              </a:rPr>
              <a:t>Incident reasoning &amp; risk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01568" y="3291840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114800" y="3291840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828031" y="3291840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541264" y="3291840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254496" y="3291840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967728" y="3291840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7680960" y="3291840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394192" y="3291840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0080" y="3721608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Times New Roman"/>
              </a:rPr>
              <a:t>Dashboard &amp; integration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401568" y="373989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4114800" y="373989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4828031" y="373989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5541264" y="373989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254496" y="373989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967728" y="373989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7680960" y="373989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394192" y="373989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40080" y="416966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Times New Roman"/>
              </a:rPr>
              <a:t>Testing &amp; evaluation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401568" y="418795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114800" y="418795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4828031" y="418795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5541264" y="418795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6254496" y="418795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6967728" y="418795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7680960" y="418795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8394192" y="418795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40080" y="46177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Times New Roman"/>
              </a:rPr>
              <a:t>Report &amp; final presentation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401568" y="4636007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114800" y="4636007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4828031" y="4636007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5541264" y="4636007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254496" y="4636007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6967728" y="4636007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7680960" y="4636007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8394192" y="4636007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29000" y="1527048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23"/>
          <p:cNvSpPr/>
          <p:nvPr/>
        </p:nvSpPr>
        <p:spPr>
          <a:xfrm>
            <a:off x="4142232" y="1527048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23"/>
          <p:cNvSpPr/>
          <p:nvPr/>
        </p:nvSpPr>
        <p:spPr>
          <a:xfrm>
            <a:off x="4142232" y="1975104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23"/>
          <p:cNvSpPr/>
          <p:nvPr/>
        </p:nvSpPr>
        <p:spPr>
          <a:xfrm>
            <a:off x="4855463" y="1975104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23"/>
          <p:cNvSpPr/>
          <p:nvPr/>
        </p:nvSpPr>
        <p:spPr>
          <a:xfrm>
            <a:off x="4855463" y="2423160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3"/>
          <p:cNvSpPr/>
          <p:nvPr/>
        </p:nvSpPr>
        <p:spPr>
          <a:xfrm>
            <a:off x="5568696" y="2423160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23"/>
          <p:cNvSpPr/>
          <p:nvPr/>
        </p:nvSpPr>
        <p:spPr>
          <a:xfrm>
            <a:off x="6281928" y="2423160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23"/>
          <p:cNvSpPr/>
          <p:nvPr/>
        </p:nvSpPr>
        <p:spPr>
          <a:xfrm>
            <a:off x="5568696" y="2871216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23"/>
          <p:cNvSpPr/>
          <p:nvPr/>
        </p:nvSpPr>
        <p:spPr>
          <a:xfrm>
            <a:off x="6281928" y="2871216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23"/>
          <p:cNvSpPr/>
          <p:nvPr/>
        </p:nvSpPr>
        <p:spPr>
          <a:xfrm>
            <a:off x="6995160" y="2871216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23"/>
          <p:cNvSpPr/>
          <p:nvPr/>
        </p:nvSpPr>
        <p:spPr>
          <a:xfrm>
            <a:off x="6281928" y="3319272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23"/>
          <p:cNvSpPr/>
          <p:nvPr/>
        </p:nvSpPr>
        <p:spPr>
          <a:xfrm>
            <a:off x="6995160" y="3319272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23"/>
          <p:cNvSpPr/>
          <p:nvPr/>
        </p:nvSpPr>
        <p:spPr>
          <a:xfrm>
            <a:off x="7708392" y="3319272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23"/>
          <p:cNvSpPr/>
          <p:nvPr/>
        </p:nvSpPr>
        <p:spPr>
          <a:xfrm>
            <a:off x="6995160" y="3767328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23"/>
          <p:cNvSpPr/>
          <p:nvPr/>
        </p:nvSpPr>
        <p:spPr>
          <a:xfrm>
            <a:off x="7708392" y="3767328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23"/>
          <p:cNvSpPr/>
          <p:nvPr/>
        </p:nvSpPr>
        <p:spPr>
          <a:xfrm>
            <a:off x="7708392" y="4215384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23"/>
          <p:cNvSpPr/>
          <p:nvPr/>
        </p:nvSpPr>
        <p:spPr>
          <a:xfrm>
            <a:off x="8421624" y="4215384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23"/>
          <p:cNvSpPr/>
          <p:nvPr/>
        </p:nvSpPr>
        <p:spPr>
          <a:xfrm>
            <a:off x="8421624" y="4663439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7"/>
          <p:cNvSpPr txBox="1"/>
          <p:nvPr/>
        </p:nvSpPr>
        <p:spPr>
          <a:xfrm>
            <a:off x="6254496" y="1188720"/>
            <a:ext cx="13807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SEP</a:t>
            </a:r>
          </a:p>
        </p:txBody>
      </p:sp>
      <p:sp>
        <p:nvSpPr>
          <p:cNvPr id="91" name="TextBox 7"/>
          <p:cNvSpPr txBox="1"/>
          <p:nvPr/>
        </p:nvSpPr>
        <p:spPr>
          <a:xfrm>
            <a:off x="7680960" y="1188720"/>
            <a:ext cx="13807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OCT</a:t>
            </a:r>
          </a:p>
        </p:txBody>
      </p:sp>
      <p:pic>
        <p:nvPicPr>
          <p:cNvPr id="101" name="Picture 101">
            <a:extLst>
              <a:ext uri="{FF2B5EF4-FFF2-40B4-BE49-F238E27FC236}">
                <a16:creationId xmlns:a16="http://schemas.microsoft.com/office/drawing/2014/main" id="{D8ED4709-B7DE-AC3B-E1B2-2E0316D00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9" y="30720"/>
            <a:ext cx="12137387" cy="68272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RESOURCE IDENTIFICATION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16/10/2026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9601200" cy="448056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96"/>
              </a:spcAft>
              <a:defRPr sz="2200" b="0">
                <a:latin typeface="Times New Roman"/>
              </a:defRPr>
            </a:pPr>
            <a:r>
              <a:t>• Development PC / GPU system</a:t>
            </a:r>
          </a:p>
          <a:p>
            <a:pPr algn="l">
              <a:lnSpc>
                <a:spcPct val="100000"/>
              </a:lnSpc>
              <a:spcAft>
                <a:spcPts val="1296"/>
              </a:spcAft>
              <a:defRPr sz="2200" b="0">
                <a:latin typeface="Times New Roman"/>
              </a:defRPr>
            </a:pPr>
            <a:r>
              <a:t>• CCTV or recorded video source</a:t>
            </a:r>
          </a:p>
          <a:p>
            <a:pPr algn="l">
              <a:lnSpc>
                <a:spcPct val="100000"/>
              </a:lnSpc>
              <a:spcAft>
                <a:spcPts val="1296"/>
              </a:spcAft>
              <a:defRPr sz="2200" b="0">
                <a:latin typeface="Times New Roman"/>
              </a:defRPr>
            </a:pPr>
            <a:r>
              <a:t>• Storage for datasets and video clips</a:t>
            </a:r>
          </a:p>
          <a:p>
            <a:pPr algn="l">
              <a:lnSpc>
                <a:spcPct val="100000"/>
              </a:lnSpc>
              <a:spcAft>
                <a:spcPts val="1296"/>
              </a:spcAft>
              <a:defRPr sz="2200" b="0">
                <a:latin typeface="Times New Roman"/>
              </a:defRPr>
            </a:pPr>
            <a:r>
              <a:t>• Python and deep-learning libraries</a:t>
            </a:r>
          </a:p>
          <a:p>
            <a:pPr algn="l">
              <a:lnSpc>
                <a:spcPct val="100000"/>
              </a:lnSpc>
              <a:spcAft>
                <a:spcPts val="1296"/>
              </a:spcAft>
              <a:defRPr sz="2200" b="0">
                <a:latin typeface="Times New Roman"/>
              </a:defRPr>
            </a:pPr>
            <a:r>
              <a:t>• Ultralytics YOLOv11 and ByteTrack</a:t>
            </a:r>
          </a:p>
          <a:p>
            <a:pPr algn="l">
              <a:lnSpc>
                <a:spcPct val="100000"/>
              </a:lnSpc>
              <a:spcAft>
                <a:spcPts val="1296"/>
              </a:spcAft>
              <a:defRPr sz="2200" b="0">
                <a:latin typeface="Times New Roman"/>
              </a:defRPr>
            </a:pPr>
            <a:r>
              <a:t>• OpenCV and dashboard tools</a:t>
            </a:r>
          </a:p>
          <a:p>
            <a:pPr algn="l">
              <a:lnSpc>
                <a:spcPct val="100000"/>
              </a:lnSpc>
              <a:spcAft>
                <a:spcPts val="1296"/>
              </a:spcAft>
              <a:defRPr sz="2200" b="0">
                <a:latin typeface="Times New Roman"/>
              </a:defRPr>
            </a:pPr>
            <a:r>
              <a:t>• Public surveillance datasets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TASK ALLOCATION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16/10/2026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4789" y="1793845"/>
            <a:ext cx="9308061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/>
            <a:r>
              <a:rPr sz="2100" b="1" dirty="0">
                <a:latin typeface="Times New Roman"/>
              </a:rPr>
              <a:t>ADITHYA CHANDRAN</a:t>
            </a:r>
            <a:r>
              <a:rPr lang="en-US" sz="2100" b="1" dirty="0">
                <a:latin typeface="Times New Roman"/>
              </a:rPr>
              <a:t> : </a:t>
            </a:r>
            <a:r>
              <a:rPr lang="en-US" sz="2000" dirty="0">
                <a:latin typeface="Times New Roman"/>
              </a:rPr>
              <a:t>System architecture, YOLOv11 integration and dashboard</a:t>
            </a:r>
            <a:r>
              <a:rPr lang="en-US" sz="2400" dirty="0">
                <a:latin typeface="Times New Roman"/>
              </a:rPr>
              <a:t>.</a:t>
            </a:r>
          </a:p>
          <a:p>
            <a:pPr algn="just"/>
            <a:endParaRPr sz="2100" b="1" dirty="0">
              <a:latin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75058" y="2507077"/>
            <a:ext cx="834946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/>
            <a:r>
              <a:rPr sz="2100" b="1" dirty="0">
                <a:latin typeface="Times New Roman"/>
              </a:rPr>
              <a:t>AKHIL P</a:t>
            </a:r>
            <a:r>
              <a:rPr lang="en-US" sz="2100" b="1" dirty="0">
                <a:latin typeface="Times New Roman"/>
              </a:rPr>
              <a:t> : </a:t>
            </a:r>
            <a:r>
              <a:rPr lang="en-US" sz="2000" dirty="0">
                <a:latin typeface="Times New Roman"/>
              </a:rPr>
              <a:t>Dataset preparation, abandoned-object module and model training.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5058" y="3261929"/>
            <a:ext cx="10314683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/>
            <a:r>
              <a:rPr sz="2100" b="1" dirty="0">
                <a:latin typeface="Times New Roman"/>
              </a:rPr>
              <a:t>MUHAMMED SHIBIL KP</a:t>
            </a:r>
            <a:r>
              <a:rPr lang="en-US" sz="2100" b="1" dirty="0">
                <a:latin typeface="Times New Roman"/>
              </a:rPr>
              <a:t> : </a:t>
            </a:r>
            <a:r>
              <a:rPr lang="en-US" sz="2000" dirty="0">
                <a:latin typeface="Times New Roman"/>
              </a:rPr>
              <a:t>Literature review, </a:t>
            </a:r>
            <a:r>
              <a:rPr lang="en-US" sz="2000" dirty="0" err="1">
                <a:latin typeface="Times New Roman"/>
              </a:rPr>
              <a:t>ByteTrack</a:t>
            </a:r>
            <a:r>
              <a:rPr lang="en-US" sz="2000" dirty="0">
                <a:latin typeface="Times New Roman"/>
              </a:rPr>
              <a:t>/tracking and fight-detection module.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4789" y="3969894"/>
            <a:ext cx="10307630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/>
            <a:r>
              <a:rPr sz="2100" b="1" dirty="0">
                <a:latin typeface="Times New Roman"/>
              </a:rPr>
              <a:t>SHEHRUZ MUHAMMED CS</a:t>
            </a:r>
            <a:r>
              <a:rPr lang="en-US" sz="2100" b="1" dirty="0">
                <a:latin typeface="Times New Roman"/>
              </a:rPr>
              <a:t> : </a:t>
            </a:r>
            <a:r>
              <a:rPr lang="en-US" sz="2000" dirty="0">
                <a:latin typeface="Times New Roman"/>
              </a:rPr>
              <a:t>Incident reasoning, context fusion, risk assessment and report.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732" y="4723021"/>
            <a:ext cx="838011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/>
            <a:r>
              <a:rPr sz="2100" b="1" dirty="0">
                <a:latin typeface="Times New Roman"/>
              </a:rPr>
              <a:t>ALL MEMBERS</a:t>
            </a:r>
            <a:r>
              <a:rPr lang="en-US" sz="2100" b="1" dirty="0">
                <a:latin typeface="Times New Roman"/>
              </a:rPr>
              <a:t> : </a:t>
            </a:r>
            <a:r>
              <a:rPr lang="en-US" sz="2000" dirty="0">
                <a:latin typeface="Times New Roman"/>
              </a:rPr>
              <a:t>Testing, documentation and final presentation preparation.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200" b="1" u="sng">
                <a:latin typeface="Times New Roman"/>
              </a:rPr>
              <a:t>CONCLUSION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16/10/2026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89888"/>
            <a:ext cx="9646920" cy="2396554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96"/>
              </a:spcAft>
              <a:defRPr sz="2200" b="0">
                <a:latin typeface="Times New Roman"/>
              </a:defRPr>
            </a:pPr>
            <a:r>
              <a:rPr dirty="0"/>
              <a:t>• The framework unifies multi-event detection, tracking and risk assessment.</a:t>
            </a:r>
          </a:p>
          <a:p>
            <a:pPr algn="just">
              <a:lnSpc>
                <a:spcPct val="100000"/>
              </a:lnSpc>
              <a:spcAft>
                <a:spcPts val="1296"/>
              </a:spcAft>
              <a:defRPr sz="2200" b="0">
                <a:latin typeface="Times New Roman"/>
              </a:defRPr>
            </a:pPr>
            <a:r>
              <a:rPr dirty="0"/>
              <a:t>• It detects multiple event types from CCTV.</a:t>
            </a:r>
          </a:p>
          <a:p>
            <a:pPr algn="just">
              <a:lnSpc>
                <a:spcPct val="100000"/>
              </a:lnSpc>
              <a:spcAft>
                <a:spcPts val="1296"/>
              </a:spcAft>
              <a:defRPr sz="2200" b="0">
                <a:latin typeface="Times New Roman"/>
              </a:defRPr>
            </a:pPr>
            <a:r>
              <a:rPr dirty="0"/>
              <a:t>• It prioritizes incidents using risk assessment.</a:t>
            </a:r>
          </a:p>
          <a:p>
            <a:pPr algn="just">
              <a:lnSpc>
                <a:spcPct val="100000"/>
              </a:lnSpc>
              <a:spcAft>
                <a:spcPts val="1296"/>
              </a:spcAft>
              <a:defRPr sz="2200" b="0">
                <a:latin typeface="Times New Roman"/>
              </a:defRPr>
            </a:pPr>
            <a:r>
              <a:rPr dirty="0"/>
              <a:t>• It supports faster and smarter security response.</a:t>
            </a:r>
          </a:p>
          <a:p>
            <a:pPr algn="just">
              <a:lnSpc>
                <a:spcPct val="100000"/>
              </a:lnSpc>
              <a:spcAft>
                <a:spcPts val="1296"/>
              </a:spcAft>
              <a:defRPr sz="2200" b="0">
                <a:latin typeface="Times New Roman"/>
              </a:defRPr>
            </a:pPr>
            <a:r>
              <a:rPr dirty="0"/>
              <a:t>• It is scalable for future smart transportation systems.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200" b="1" u="sng">
                <a:latin typeface="Times New Roman"/>
              </a:rPr>
              <a:t>REFERENCES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16/10/2026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55680" cy="5029200"/>
          </a:xfrm>
          <a:prstGeom prst="rect">
            <a:avLst/>
          </a:prstGeom>
          <a:noFill/>
        </p:spPr>
        <p:txBody>
          <a:bodyPr wrap="square" lIns="27432" tIns="9144" rIns="27432" bIns="9144" anchor="t"/>
          <a:lstStyle/>
          <a:p>
            <a:pPr>
              <a:spcAft>
                <a:spcPts val="100"/>
              </a:spcAft>
              <a:defRPr sz="1500">
                <a:latin typeface="Times New Roman"/>
              </a:defRPr>
            </a:pPr>
            <a:r>
              <a:rPr lang="en-IN" sz="1100" dirty="0">
                <a:latin typeface="Times New Roman"/>
              </a:rPr>
              <a:t>[1] A. A. Hamid, S. A. </a:t>
            </a:r>
            <a:r>
              <a:rPr lang="en-IN" sz="1100" dirty="0" err="1">
                <a:latin typeface="Times New Roman"/>
              </a:rPr>
              <a:t>Monadjemi</a:t>
            </a:r>
            <a:r>
              <a:rPr lang="en-IN" sz="1100" dirty="0">
                <a:latin typeface="Times New Roman"/>
              </a:rPr>
              <a:t>, and B. Shoushtarian, “</a:t>
            </a:r>
            <a:r>
              <a:rPr lang="en-IN" sz="1100" dirty="0" err="1">
                <a:latin typeface="Times New Roman"/>
              </a:rPr>
              <a:t>ABDviaMSIFAT</a:t>
            </a:r>
            <a:r>
              <a:rPr lang="en-IN" sz="1100" dirty="0">
                <a:latin typeface="Times New Roman"/>
              </a:rPr>
              <a:t>: Abnormal Crowd </a:t>
            </a:r>
            <a:r>
              <a:rPr lang="en-IN" sz="1100" dirty="0" err="1">
                <a:latin typeface="Times New Roman"/>
              </a:rPr>
              <a:t>Behavior</a:t>
            </a:r>
            <a:r>
              <a:rPr lang="en-IN" sz="1100" dirty="0">
                <a:latin typeface="Times New Roman"/>
              </a:rPr>
              <a:t> Detection Utilizing a Multi-Source Information Fusion Technique,” IEEE Access, vol. 13, pp. 75000–75019, 2025,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10.1109/ACCESS.2024.3436007</a:t>
            </a:r>
          </a:p>
          <a:p>
            <a:pPr>
              <a:spcAft>
                <a:spcPts val="100"/>
              </a:spcAft>
              <a:defRPr sz="1500">
                <a:latin typeface="Times New Roman"/>
              </a:defRPr>
            </a:pPr>
            <a:r>
              <a:rPr lang="en-IN" sz="1100" dirty="0">
                <a:latin typeface="Times New Roman"/>
              </a:rPr>
              <a:t>.</a:t>
            </a:r>
          </a:p>
          <a:p>
            <a:pPr>
              <a:spcAft>
                <a:spcPts val="100"/>
              </a:spcAft>
              <a:defRPr sz="1500">
                <a:latin typeface="Times New Roman"/>
              </a:defRPr>
            </a:pPr>
            <a:r>
              <a:rPr lang="en-IN" sz="1100" dirty="0">
                <a:latin typeface="Times New Roman"/>
              </a:rPr>
              <a:t>[2] D. Chaudhary, S. Kumar, and V. S. Dhaka, “Intelligent Anomaly Detection and Localization With Crowd Density Estimation for Improved Public Safety,” IEEE Access, vol. 13, pp. 169912–169928, 2025,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10.1109/ACCESS.2025.3614146.</a:t>
            </a:r>
          </a:p>
          <a:p>
            <a:pPr>
              <a:spcAft>
                <a:spcPts val="100"/>
              </a:spcAft>
              <a:defRPr sz="1500">
                <a:latin typeface="Times New Roman"/>
              </a:defRPr>
            </a:pPr>
            <a:endParaRPr lang="en-IN" sz="1100" dirty="0"/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[3] A. M. Qasim, N. Abbas, A. Ali, and B. A. A. Al-Ghamdi, “Abandoned Object Detection and Classification Using Deep Embedded Vision,” IEEE Access, vol. 12, pp. 35539–35551, 2024,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10.1109/ACCESS.2024.3369233.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[4] H.-Y. Lin and C.-H. Tseng, “Abnormal Activity Detection and Classification of Bus Passengers With In-Vehicle Image Sensing,” IEEE Access, 2024,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10.1109/ACCESS.2024.3365138.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[5] T. Yuan, X. Zhang, K. Liu, B. Liu, C. Chen, J. Jin, and Z. Jiao, “Towards Surveillance Video-and-Language Understanding: New Dataset, Baselines, and Challenges,” in Proc. IEEE/CVF CVPR, 2024, pp. 22052–22061,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10.1109/CVPR52733.2024.02082.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[6] S. F. A. Shah, M. Q. Khan, A. A. </a:t>
            </a:r>
            <a:r>
              <a:rPr lang="en-IN" sz="1100" dirty="0" err="1">
                <a:latin typeface="Times New Roman"/>
              </a:rPr>
              <a:t>Alsuwaylimi</a:t>
            </a:r>
            <a:r>
              <a:rPr lang="en-IN" sz="1100" dirty="0">
                <a:latin typeface="Times New Roman"/>
              </a:rPr>
              <a:t>, and L. A. </a:t>
            </a:r>
            <a:r>
              <a:rPr lang="en-IN" sz="1100" dirty="0" err="1">
                <a:latin typeface="Times New Roman"/>
              </a:rPr>
              <a:t>Alenezi</a:t>
            </a:r>
            <a:r>
              <a:rPr lang="en-IN" sz="1100" dirty="0">
                <a:latin typeface="Times New Roman"/>
              </a:rPr>
              <a:t>, “A Two-Stage Spatiotemporal CNN-YOLOv9 Framework for High-Precision Real-Time Abandoned Object Detection in Public Surveillance Videos,” IEEE Access, vol. 14, pp. 35983–35997, 2026,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10.1109/ACCESS.2026.3669588.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[7] Y. Wang and V. Y. Mariano, “A Multi Object Tracking Framework Based on YOLOv8s and </a:t>
            </a:r>
            <a:r>
              <a:rPr lang="en-IN" sz="1100" dirty="0" err="1">
                <a:latin typeface="Times New Roman"/>
              </a:rPr>
              <a:t>ByteTrack</a:t>
            </a:r>
            <a:r>
              <a:rPr lang="en-IN" sz="1100" dirty="0">
                <a:latin typeface="Times New Roman"/>
              </a:rPr>
              <a:t> Algorithm,” IEEE Access, 2024,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10.1109/ACCESS.2024.3450370.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[8] S. T. Y. Aung, W. </a:t>
            </a:r>
            <a:r>
              <a:rPr lang="en-IN" sz="1100" dirty="0" err="1">
                <a:latin typeface="Times New Roman"/>
              </a:rPr>
              <a:t>Kusakunniran</a:t>
            </a:r>
            <a:r>
              <a:rPr lang="en-IN" sz="1100" dirty="0">
                <a:latin typeface="Times New Roman"/>
              </a:rPr>
              <a:t>, and Y. K. Hooi, “Leveraging Fusion Methods of Human Pose and Motion Dynamics for Accurate Violence Detection in Video Surveillance,” IEEE Access, 2025,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10.1109/ACCESS.2025.3613765.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[9] Z. Yang and R. J. Radke, “Context-aware Video Anomaly Detection in Long-Term Datasets,” in Proc. IEEE/CVF CVPR Workshops, 2024, pp. 4002–4011,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10.1109/CVPRW63382.2024.00404.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[10] Z. Zhu, H. He, and M. Wang, “A </a:t>
            </a:r>
            <a:r>
              <a:rPr lang="en-IN" sz="1100" dirty="0" err="1">
                <a:latin typeface="Times New Roman"/>
              </a:rPr>
              <a:t>Spatio</a:t>
            </a:r>
            <a:r>
              <a:rPr lang="en-IN" sz="1100" dirty="0">
                <a:latin typeface="Times New Roman"/>
              </a:rPr>
              <a:t>-Temporal Semantic Algorithm for Video Anomaly Detection from Monitoring Perspectives,” in Proc. 5th Int. Conf. Artificial Intelligence, Robotics, and Communication (ICAIRC), 2025,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10.1109/ICAIRC68035.2025.11385035.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16/10/2026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9264"/>
            <a:ext cx="11155680" cy="5029200"/>
          </a:xfrm>
          <a:prstGeom prst="rect">
            <a:avLst/>
          </a:prstGeom>
          <a:noFill/>
        </p:spPr>
        <p:txBody>
          <a:bodyPr wrap="square" lIns="27432" tIns="9144" rIns="27432" bIns="9144" anchor="t"/>
          <a:lstStyle/>
          <a:p>
            <a:pPr>
              <a:spcAft>
                <a:spcPts val="100"/>
              </a:spcAft>
              <a:defRPr sz="1500">
                <a:latin typeface="Times New Roman"/>
              </a:defRPr>
            </a:pPr>
            <a:r>
              <a:rPr lang="en-IN" sz="1100" dirty="0">
                <a:latin typeface="Times New Roman"/>
              </a:rPr>
              <a:t>[11] M. Khan, W. </a:t>
            </a:r>
            <a:r>
              <a:rPr lang="en-IN" sz="1100" dirty="0" err="1">
                <a:latin typeface="Times New Roman"/>
              </a:rPr>
              <a:t>Gueaieb</a:t>
            </a:r>
            <a:r>
              <a:rPr lang="en-IN" sz="1100" dirty="0">
                <a:latin typeface="Times New Roman"/>
              </a:rPr>
              <a:t>, A. </a:t>
            </a:r>
            <a:r>
              <a:rPr lang="en-IN" sz="1100" dirty="0" err="1">
                <a:latin typeface="Times New Roman"/>
              </a:rPr>
              <a:t>Elsaddik</a:t>
            </a:r>
            <a:r>
              <a:rPr lang="en-IN" sz="1100" dirty="0">
                <a:latin typeface="Times New Roman"/>
              </a:rPr>
              <a:t>, G. De Masi, and F. </a:t>
            </a:r>
            <a:r>
              <a:rPr lang="en-IN" sz="1100" dirty="0" err="1">
                <a:latin typeface="Times New Roman"/>
              </a:rPr>
              <a:t>Karray</a:t>
            </a:r>
            <a:r>
              <a:rPr lang="en-IN" sz="1100" dirty="0">
                <a:latin typeface="Times New Roman"/>
              </a:rPr>
              <a:t>, “Graph-Based Knowledge Driven Approach for Violence Detection,” IEEE Consumer Electronics Magazine, vol. 14, no. 1, pp. 77–85, 2025,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10.1109/MCE.2024.3446192.</a:t>
            </a:r>
          </a:p>
          <a:p>
            <a:pPr>
              <a:spcAft>
                <a:spcPts val="100"/>
              </a:spcAft>
              <a:defRPr sz="1500">
                <a:latin typeface="Times New Roman"/>
              </a:defRPr>
            </a:pPr>
            <a:endParaRPr lang="en-IN" sz="1100" dirty="0"/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[12] M. Khan, M. Saad, A. Khan, W. </a:t>
            </a:r>
            <a:r>
              <a:rPr lang="en-IN" sz="1100" dirty="0" err="1">
                <a:latin typeface="Times New Roman"/>
              </a:rPr>
              <a:t>Gueaieb</a:t>
            </a:r>
            <a:r>
              <a:rPr lang="en-IN" sz="1100" dirty="0">
                <a:latin typeface="Times New Roman"/>
              </a:rPr>
              <a:t>, A. E. Saddik, G. De Masi, and F. </a:t>
            </a:r>
            <a:r>
              <a:rPr lang="en-IN" sz="1100" dirty="0" err="1">
                <a:latin typeface="Times New Roman"/>
              </a:rPr>
              <a:t>Karray</a:t>
            </a:r>
            <a:r>
              <a:rPr lang="en-IN" sz="1100" dirty="0">
                <a:latin typeface="Times New Roman"/>
              </a:rPr>
              <a:t>, “Action Knowledge Graph for Violence Detection Using Audiovisual Features,” in Proc. IEEE Int. Conf. Consumer Electronics (ICCE), 2024,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10.1109/ICCE59016.2024.10444158.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[13] A. S. Kannan, Z. A. Alsalami, A. </a:t>
            </a:r>
            <a:r>
              <a:rPr lang="en-IN" sz="1100" dirty="0" err="1">
                <a:latin typeface="Times New Roman"/>
              </a:rPr>
              <a:t>Nihlani</a:t>
            </a:r>
            <a:r>
              <a:rPr lang="en-IN" sz="1100" dirty="0">
                <a:latin typeface="Times New Roman"/>
              </a:rPr>
              <a:t>, K. Gowthami, M. A. K. </a:t>
            </a:r>
            <a:r>
              <a:rPr lang="en-IN" sz="1100" dirty="0" err="1">
                <a:latin typeface="Times New Roman"/>
              </a:rPr>
              <a:t>Abdukodir</a:t>
            </a:r>
            <a:r>
              <a:rPr lang="en-IN" sz="1100" dirty="0">
                <a:latin typeface="Times New Roman"/>
              </a:rPr>
              <a:t> Kizi, A. Amudha, and Z. </a:t>
            </a:r>
            <a:r>
              <a:rPr lang="en-IN" sz="1100" dirty="0" err="1">
                <a:latin typeface="Times New Roman"/>
              </a:rPr>
              <a:t>Mamadalieva</a:t>
            </a:r>
            <a:r>
              <a:rPr lang="en-IN" sz="1100" dirty="0">
                <a:latin typeface="Times New Roman"/>
              </a:rPr>
              <a:t>, “Real-Time Video Surveillance Analysis at the Edge in Smart Cities,” in Proc. Int. Conf. Innovations and Emerging Technologies in AI &amp; Communication Systems (IETACS), 2025,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10.1109/IETACS68750.2025.11385417.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[14] M. Khan, A. E. Saddik, W. </a:t>
            </a:r>
            <a:r>
              <a:rPr lang="en-IN" sz="1100" dirty="0" err="1">
                <a:latin typeface="Times New Roman"/>
              </a:rPr>
              <a:t>Gueaieb</a:t>
            </a:r>
            <a:r>
              <a:rPr lang="en-IN" sz="1100" dirty="0">
                <a:latin typeface="Times New Roman"/>
              </a:rPr>
              <a:t>, G. De Masi, and F. </a:t>
            </a:r>
            <a:r>
              <a:rPr lang="en-IN" sz="1100" dirty="0" err="1">
                <a:latin typeface="Times New Roman"/>
              </a:rPr>
              <a:t>Karray</a:t>
            </a:r>
            <a:r>
              <a:rPr lang="en-IN" sz="1100" dirty="0">
                <a:latin typeface="Times New Roman"/>
              </a:rPr>
              <a:t>, “VD-Net: An Edge Vision-Based Surveillance System for Violence Detection,” IEEE Access, vol. 12, pp. 43796–43808, 2024,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10.1109/ACCESS.2024.3380192.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[15] M. H. </a:t>
            </a:r>
            <a:r>
              <a:rPr lang="en-IN" sz="1100" dirty="0" err="1">
                <a:latin typeface="Times New Roman"/>
              </a:rPr>
              <a:t>Habeb</a:t>
            </a:r>
            <a:r>
              <a:rPr lang="en-IN" sz="1100" dirty="0">
                <a:latin typeface="Times New Roman"/>
              </a:rPr>
              <a:t>, M. Salama, and L. A. </a:t>
            </a:r>
            <a:r>
              <a:rPr lang="en-IN" sz="1100" dirty="0" err="1">
                <a:latin typeface="Times New Roman"/>
              </a:rPr>
              <a:t>Elrefaei</a:t>
            </a:r>
            <a:r>
              <a:rPr lang="en-IN" sz="1100" dirty="0">
                <a:latin typeface="Times New Roman"/>
              </a:rPr>
              <a:t>, “An Attention-Based Unsupervised Framework for Video Anomaly Detection in Large Heterogeneous Environments,” in Proc. MIUCC, 2024,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10.1109/MIUCC62295.2024.10783549.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[16] H. Lee, D. Kang, H. Park, S. Park, D. Jeong, and J. Paik, “Real-Time Human Group Detection and Clustering in Crowded Environments Using Enhanced Multi-Object Tracking,” IEEE Access, vol. 12, pp. 184028–184039, 2024,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10.1109/ACCESS.2024.3503661.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[17] M. Zhang, J. Wang, Q. Qi, H. Sun, Z. Zhuang, P. Ren, R. Ma, and J. Liao, “Multi-Scale Video Anomaly Detection by Multi-Grained </a:t>
            </a:r>
            <a:r>
              <a:rPr lang="en-IN" sz="1100" dirty="0" err="1">
                <a:latin typeface="Times New Roman"/>
              </a:rPr>
              <a:t>Spatio</a:t>
            </a:r>
            <a:r>
              <a:rPr lang="en-IN" sz="1100" dirty="0">
                <a:latin typeface="Times New Roman"/>
              </a:rPr>
              <a:t>-Temporal Representation Learning,” in Proc. IEEE/CVF CVPR, 2024, pp. 17385–17394,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10.1109/CVPR52733.2024.01646.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[18] A. Amirkhani and S. A. </a:t>
            </a:r>
            <a:r>
              <a:rPr lang="en-IN" sz="1100" dirty="0" err="1">
                <a:latin typeface="Times New Roman"/>
              </a:rPr>
              <a:t>Khoshnevis</a:t>
            </a:r>
            <a:r>
              <a:rPr lang="en-IN" sz="1100" dirty="0">
                <a:latin typeface="Times New Roman"/>
              </a:rPr>
              <a:t>, “</a:t>
            </a:r>
            <a:r>
              <a:rPr lang="en-IN" sz="1100" dirty="0" err="1">
                <a:latin typeface="Times New Roman"/>
              </a:rPr>
              <a:t>CFTformer</a:t>
            </a:r>
            <a:r>
              <a:rPr lang="en-IN" sz="1100" dirty="0">
                <a:latin typeface="Times New Roman"/>
              </a:rPr>
              <a:t>: End-to-End Cross-Frame Multi-Object Tracking With Transformer,” IEEE Access, 2025,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10.1109/ACCESS.2025.3567349.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[19] S. Zhuo, H. Bai, L. Jiang, X. Zhou, X. Duan, Y. Ma, and Z. Zhou, “SCL-YOLOv11: A Lightweight Object Detection Network for Low-Illumination Environments,” IEEE Access, vol. 13, pp. 47653–47662, 2025,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10.1109/ACCESS.2025.3550947.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[20] H. Zhang, Y. Guo, and X. Du, “Online Action Detection by Long Short-Term Transformer with Query Exemplars,” in Proc. IEEE Int. Joint Conf. Neural Networks (IJCNN), 2024,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10.1109/IJCNN60899.2024.10651333.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US" sz="1100" dirty="0">
                <a:latin typeface="Times New Roman"/>
              </a:rPr>
              <a:t>[21] T. </a:t>
            </a:r>
            <a:r>
              <a:rPr lang="en-US" sz="1100" dirty="0" err="1">
                <a:latin typeface="Times New Roman"/>
              </a:rPr>
              <a:t>Soontornnapar</a:t>
            </a:r>
            <a:r>
              <a:rPr lang="en-US" sz="1100" dirty="0">
                <a:latin typeface="Times New Roman"/>
              </a:rPr>
              <a:t>, “Abandoned Bag Detection in Public Areas Using Grounding DINO With Fine-Grained Prompts,” in Proc. ECTI-CON, 2025, </a:t>
            </a:r>
            <a:r>
              <a:rPr lang="en-US" sz="1100" dirty="0" err="1">
                <a:latin typeface="Times New Roman"/>
              </a:rPr>
              <a:t>doi</a:t>
            </a:r>
            <a:r>
              <a:rPr lang="en-US" sz="1100" dirty="0">
                <a:latin typeface="Times New Roman"/>
              </a:rPr>
              <a:t>: 10.1109/ECTI-CON64996.2025.11100886.</a:t>
            </a: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468880"/>
            <a:ext cx="85039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000" b="1">
                <a:latin typeface="Times New Rom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3217</Words>
  <Application>Microsoft Office PowerPoint</Application>
  <PresentationFormat>Widescreen</PresentationFormat>
  <Paragraphs>480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Akhil P</dc:creator>
  <cp:keywords/>
  <dc:description>generated using python-pptx</dc:description>
  <cp:lastModifiedBy>Akhil P</cp:lastModifiedBy>
  <cp:revision>7</cp:revision>
  <dcterms:created xsi:type="dcterms:W3CDTF">2013-01-27T09:14:16Z</dcterms:created>
  <dcterms:modified xsi:type="dcterms:W3CDTF">2026-10-16T05:37:41Z</dcterms:modified>
  <cp:category/>
</cp:coreProperties>
</file>