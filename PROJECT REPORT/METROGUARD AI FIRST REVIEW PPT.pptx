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77" r:id="rId11"/>
    <p:sldId id="294" r:id="rId12"/>
    <p:sldId id="274" r:id="rId13"/>
    <p:sldId id="276" r:id="rId14"/>
    <p:sldId id="286" r:id="rId15"/>
    <p:sldId id="281" r:id="rId16"/>
    <p:sldId id="264" r:id="rId17"/>
    <p:sldId id="268" r:id="rId18"/>
    <p:sldId id="267" r:id="rId19"/>
    <p:sldId id="266" r:id="rId20"/>
    <p:sldId id="265" r:id="rId21"/>
    <p:sldId id="282" r:id="rId22"/>
    <p:sldId id="270" r:id="rId23"/>
    <p:sldId id="279" r:id="rId24"/>
    <p:sldId id="269" r:id="rId25"/>
    <p:sldId id="287" r:id="rId26"/>
    <p:sldId id="290" r:id="rId27"/>
    <p:sldId id="289" r:id="rId28"/>
    <p:sldId id="275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660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906" y="4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2254939"/>
            <a:ext cx="111831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latin typeface="Times New Roman"/>
              </a:rPr>
              <a:t>MULTI-EVENT INCIDENT INTELLIGENCE</a:t>
            </a:r>
            <a:r>
              <a:rPr lang="en-US" sz="2000" dirty="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FRAMEWORK FOR SMART METRO SURVEILLANCE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5720" y="2975089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latin typeface="Times New Roman"/>
              </a:rPr>
              <a:t>ADD415 PROJECT PHASE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5720" y="3423145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latin typeface="Times New Roman"/>
              </a:rPr>
              <a:t>FIRST REVIEW</a:t>
            </a:r>
          </a:p>
        </p:txBody>
      </p:sp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210312"/>
            <a:ext cx="749808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773168"/>
            <a:ext cx="2583015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700" b="1">
                <a:latin typeface="Times New Roman"/>
              </a:defRPr>
            </a:pPr>
            <a:r>
              <a:rPr dirty="0"/>
              <a:t>Guided By :</a:t>
            </a:r>
          </a:p>
          <a:p>
            <a:pPr algn="l">
              <a:spcAft>
                <a:spcPts val="400"/>
              </a:spcAft>
              <a:defRPr sz="1600" b="0">
                <a:latin typeface="Times New Roman"/>
              </a:defRPr>
            </a:pPr>
            <a:r>
              <a:rPr dirty="0"/>
              <a:t>Ms. ARYA N S</a:t>
            </a:r>
          </a:p>
          <a:p>
            <a:pPr algn="l">
              <a:spcAft>
                <a:spcPts val="400"/>
              </a:spcAft>
              <a:defRPr sz="1600" b="1">
                <a:latin typeface="Times New Roman"/>
              </a:defRPr>
            </a:pPr>
            <a:r>
              <a:rPr dirty="0"/>
              <a:t>ASSISTANT PROFESSOR</a:t>
            </a:r>
          </a:p>
          <a:p>
            <a:pPr algn="l">
              <a:spcAft>
                <a:spcPts val="400"/>
              </a:spcAft>
              <a:defRPr sz="1600" b="0">
                <a:latin typeface="Times New Roman"/>
              </a:defRPr>
            </a:pPr>
            <a:r>
              <a:rPr lang="en-US" dirty="0"/>
              <a:t>Dept. of  AD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86956" y="4448895"/>
            <a:ext cx="3974165" cy="14978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800" b="1">
                <a:latin typeface="Times New Roman"/>
              </a:defRPr>
            </a:pPr>
            <a:r>
              <a:rPr dirty="0"/>
              <a:t>Presented By,</a:t>
            </a:r>
          </a:p>
          <a:p>
            <a:pPr algn="l">
              <a:spcAft>
                <a:spcPts val="400"/>
              </a:spcAft>
              <a:defRPr sz="1500" b="0">
                <a:latin typeface="Times New Roman"/>
              </a:defRPr>
            </a:pPr>
            <a:r>
              <a:rPr dirty="0"/>
              <a:t>ADITHYA CHANDRAN </a:t>
            </a:r>
            <a:r>
              <a:rPr lang="en-US" dirty="0"/>
              <a:t>        </a:t>
            </a:r>
            <a:r>
              <a:rPr dirty="0"/>
              <a:t> –  SPT23AD006</a:t>
            </a:r>
          </a:p>
          <a:p>
            <a:pPr algn="l">
              <a:spcAft>
                <a:spcPts val="400"/>
              </a:spcAft>
              <a:defRPr sz="1500" b="0">
                <a:latin typeface="Times New Roman"/>
              </a:defRPr>
            </a:pPr>
            <a:r>
              <a:rPr dirty="0"/>
              <a:t>AKHIL P  </a:t>
            </a:r>
            <a:r>
              <a:rPr lang="en-US" dirty="0"/>
              <a:t>                                  </a:t>
            </a:r>
            <a:r>
              <a:rPr dirty="0"/>
              <a:t>–  SPT23AD009</a:t>
            </a:r>
          </a:p>
          <a:p>
            <a:pPr algn="l">
              <a:spcAft>
                <a:spcPts val="400"/>
              </a:spcAft>
              <a:defRPr sz="1500" b="0">
                <a:latin typeface="Times New Roman"/>
              </a:defRPr>
            </a:pPr>
            <a:r>
              <a:rPr dirty="0"/>
              <a:t>MUHAMMED SHIBIL KP </a:t>
            </a:r>
            <a:r>
              <a:rPr lang="en-US" dirty="0"/>
              <a:t>     </a:t>
            </a:r>
            <a:r>
              <a:rPr dirty="0"/>
              <a:t> –  SPT23AD034</a:t>
            </a:r>
          </a:p>
          <a:p>
            <a:pPr algn="l">
              <a:spcAft>
                <a:spcPts val="400"/>
              </a:spcAft>
              <a:defRPr sz="1500" b="0">
                <a:latin typeface="Times New Roman"/>
              </a:defRPr>
            </a:pPr>
            <a:r>
              <a:rPr dirty="0"/>
              <a:t>SHEHRUZ MUHAMMED CS  –  SPT23AD043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5332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  <a:latin typeface="Times New Roman"/>
              </a:rPr>
              <a:t>On 08/09/2026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C50FE-7561-9960-913F-11DB574A2F62}"/>
              </a:ext>
            </a:extLst>
          </p:cNvPr>
          <p:cNvSpPr txBox="1"/>
          <p:nvPr/>
        </p:nvSpPr>
        <p:spPr>
          <a:xfrm>
            <a:off x="504444" y="1486843"/>
            <a:ext cx="111831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latin typeface="Times New Roman"/>
              </a:rPr>
              <a:t>MetroGuard</a:t>
            </a:r>
            <a:r>
              <a:rPr lang="en-US" sz="4000" b="1" dirty="0">
                <a:latin typeface="Times New Roman"/>
              </a:rPr>
              <a:t> AI</a:t>
            </a:r>
            <a:endParaRPr sz="4000" b="1" dirty="0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CONTENTS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53312"/>
            <a:ext cx="6583680" cy="47091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Introduction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Problem Identification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Motivation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Objective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Scope and significance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Literature Surveys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Block diagram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Methodology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Work Plan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Gannt Chart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Resource Identification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Task allocation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Conclusion</a:t>
            </a:r>
          </a:p>
          <a:p>
            <a:pPr algn="l">
              <a:lnSpc>
                <a:spcPct val="100000"/>
              </a:lnSpc>
              <a:spcAft>
                <a:spcPts val="252"/>
              </a:spcAft>
              <a:defRPr sz="2000" b="0">
                <a:latin typeface="Times New Roman"/>
              </a:defRPr>
            </a:pPr>
            <a: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INTRODUCTION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9601200" cy="323268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Metro rail systems rely on CCTV for passenger safety and daily operations monitoring.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Existing AI systems detect isolated events independently.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They generate multiple unrelated alerts.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They require manual interpretation by operators.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The framework integrates multiple computer vision techniques into one decision-support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PROBLEM IDENTIFICATION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5829"/>
            <a:ext cx="9601200" cy="2524794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Current AI surveillance systems detect events independently.</a:t>
            </a:r>
          </a:p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Security personnel must manually correlate scattered alerts.</a:t>
            </a:r>
          </a:p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Lack of contextual understanding makes incident severity difficult to estimate.</a:t>
            </a:r>
          </a:p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Repeated, unprioritized alerts lead to alert fatigue.</a:t>
            </a:r>
          </a:p>
          <a:p>
            <a:pPr algn="just"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A context-aware framework is required to assess risk and prioritize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 dirty="0">
                <a:latin typeface="Times New Roman"/>
              </a:rPr>
              <a:t>MOTIVATION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9601200" cy="3222421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300" dirty="0"/>
              <a:t>Current AI surveillance systems detect events independently, generating multiple isolated alerts for related incidents.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300" dirty="0"/>
              <a:t>Manual correlation of scattered alerts increases operator workload and response time.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300" dirty="0"/>
              <a:t>Lack of contextual understanding makes incident severity difficult to assess.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300" dirty="0"/>
              <a:t>Repeated, unprioritized alerts can lead to alert fatigue and reduced operator efficiency.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300" dirty="0"/>
              <a:t>A </a:t>
            </a:r>
            <a:r>
              <a:rPr lang="en-IN" sz="2300" b="1" dirty="0"/>
              <a:t>context-aware framework</a:t>
            </a:r>
            <a:r>
              <a:rPr lang="en-IN" sz="2300" dirty="0"/>
              <a:t> is needed to correlate events, assess risk, and prioritize responses in real time.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OBJECTIVE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9601200" cy="2878737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Integrate YOLO object detection, </a:t>
            </a:r>
            <a:r>
              <a:rPr dirty="0" err="1"/>
              <a:t>ByteTrack</a:t>
            </a:r>
            <a:r>
              <a:rPr dirty="0"/>
              <a:t> multi-object tracking and activity</a:t>
            </a:r>
            <a:r>
              <a:rPr lang="en-US" dirty="0"/>
              <a:t> </a:t>
            </a:r>
            <a:r>
              <a:rPr dirty="0"/>
              <a:t>recognition.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Correlate related events.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Estimate incident severity and prioritize incidents.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Generate explainable incident reports.</a:t>
            </a:r>
          </a:p>
          <a:p>
            <a:pPr marL="342900" indent="-342900" algn="just">
              <a:lnSpc>
                <a:spcPct val="100000"/>
              </a:lnSpc>
              <a:spcAft>
                <a:spcPts val="1440"/>
              </a:spcAft>
              <a:buFont typeface="Arial" panose="020B0604020202020204" pitchFamily="34" charset="0"/>
              <a:buChar char="•"/>
              <a:defRPr sz="2300" b="0">
                <a:latin typeface="Times New Roman"/>
              </a:defRPr>
            </a:pPr>
            <a:r>
              <a:rPr dirty="0"/>
              <a:t>Assist metro operators in decision making.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SCOPE AND SIGNIFICANCE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9601200" cy="2524794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Metro Stations, Railway Stations, Airports and Bus Terminals.</a:t>
            </a:r>
          </a:p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Improves passenger safety.</a:t>
            </a:r>
          </a:p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Reduces operator workload.</a:t>
            </a:r>
          </a:p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Faster emergency response.</a:t>
            </a:r>
          </a:p>
          <a:p>
            <a:pPr algn="just">
              <a:lnSpc>
                <a:spcPct val="100000"/>
              </a:lnSpc>
              <a:spcAft>
                <a:spcPts val="1440"/>
              </a:spcAft>
              <a:defRPr sz="2300" b="0">
                <a:latin typeface="Times New Roman"/>
              </a:defRPr>
            </a:pPr>
            <a:r>
              <a:rPr dirty="0"/>
              <a:t>• Supports Smart City surveillance.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Times New Roman"/>
              </a:rPr>
              <a:t>ABDviaMSIFAT: Abnormal Crowd Behavior Detection Utilizing a Multi-Source Information Fusion Technique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Dual visual and motion feature extraction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Weighted multi-source score fusion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Individual and group-level behavior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Provides a basis for multi-source incident fusion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contextual event correlation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group-level behavior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latin typeface="Times New Roman"/>
              </a:rPr>
              <a:t>Intelligent Anomaly Detection and Localization With Crowd Density Estimation for Improved Public Safety [</a:t>
            </a:r>
            <a:r>
              <a:rPr lang="en-US" sz="2200" b="1" dirty="0">
                <a:latin typeface="Times New Roman"/>
              </a:rPr>
              <a:t>2</a:t>
            </a:r>
            <a:r>
              <a:rPr sz="22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Crowd-density estimation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Anomaly localization heatmaps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Public-safety anomaly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Crowd density can be a risk input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the crowd module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Helps localize crowd anomalies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Abandoned Object Detection and Classification Using Deep Embedded Vision [</a:t>
            </a:r>
            <a:r>
              <a:rPr lang="en-US" sz="2600" b="1" dirty="0">
                <a:latin typeface="Times New Roman"/>
              </a:rPr>
              <a:t>3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Deep embedded vision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Background and feature classification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Abandoned-object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object classification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Provides scene-adaptive background cues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Helps build the abandoned-object 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Abnormal Activity Detection and Classification of Bus Passengers With In-Vehicle Image Sensing [</a:t>
            </a:r>
            <a:r>
              <a:rPr lang="en-US" sz="2600" b="1" dirty="0">
                <a:latin typeface="Times New Roman"/>
              </a:rPr>
              <a:t>4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Abnormal passenger activity detection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Fighting, falling and suspicious actions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Public-transport image sensing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Relevant to public-transport safety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event-category selection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passenger behavior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Towards Surveillance Video-and-Language Understanding: New Dataset, Baselines, and Challenges [</a:t>
            </a:r>
            <a:r>
              <a:rPr lang="en-US" sz="2600" b="1" dirty="0">
                <a:latin typeface="Times New Roman"/>
              </a:rPr>
              <a:t>5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Surveillance video-language dataset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Event descriptions and baselines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Video-to-language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explainable incident summaries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Improves operator alert clarity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future report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latin typeface="Times New Roman"/>
              </a:rPr>
              <a:t>A Two-Stage Spatiotemporal CNN-YOLOv9 Framework for High-Precision Real-Time Abandoned Object Detection in Public Surveillance Videos [</a:t>
            </a:r>
            <a:r>
              <a:rPr lang="en-US" sz="2200" b="1" dirty="0">
                <a:latin typeface="Times New Roman"/>
              </a:rPr>
              <a:t>6</a:t>
            </a:r>
            <a:r>
              <a:rPr sz="22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Two-stage CNN-YOLOv9 approach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Spatio-temporal ownership analysis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Real-time abandoned-object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detect-then-analyse design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Handles crowded and occluded scenes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abandoned-object modeling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A Multi Object Tracking Framework Based on YOLOv8s and </a:t>
            </a:r>
            <a:r>
              <a:rPr sz="2600" b="1" dirty="0" err="1">
                <a:latin typeface="Times New Roman"/>
              </a:rPr>
              <a:t>ByteTrack</a:t>
            </a:r>
            <a:r>
              <a:rPr sz="2600" b="1" dirty="0">
                <a:latin typeface="Times New Roman"/>
              </a:rPr>
              <a:t> Algorithm [</a:t>
            </a:r>
            <a:r>
              <a:rPr lang="en-US" sz="2600" b="1" dirty="0">
                <a:latin typeface="Times New Roman"/>
              </a:rPr>
              <a:t>7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YOLO detection with ByteTrack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Persistent identities across frames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Multi-object tracking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Directly supports our tracking backbone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Enables temporal event analysis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identity tracking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latin typeface="Times New Roman"/>
              </a:rPr>
              <a:t>Leveraging Fusion Methods of Human Pose and Motion Dynamics for Accurate Violence Detection in Video Surveillance [</a:t>
            </a:r>
            <a:r>
              <a:rPr lang="en-US" sz="2200" b="1" dirty="0">
                <a:latin typeface="Times New Roman"/>
              </a:rPr>
              <a:t>8</a:t>
            </a:r>
            <a:r>
              <a:rPr sz="22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Human-pose and motion fusion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Skeleton and optical-flow features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Violence feature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fight-detection features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Can complement object detection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pose-motion fusion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Context-aware Video Anomaly Detection in Long-Term Datasets [</a:t>
            </a:r>
            <a:r>
              <a:rPr lang="en-US" sz="2600" b="1" dirty="0">
                <a:latin typeface="Times New Roman"/>
              </a:rPr>
              <a:t>9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Long-term temporal context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Context-based anomaly classification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Video anomaly analysis over extended periods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Shows the value of scene context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Helps reduce isolated alerts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temporal incident understanding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latin typeface="Times New Roman"/>
              </a:rPr>
              <a:t>Spatio</a:t>
            </a:r>
            <a:r>
              <a:rPr sz="2600" b="1" dirty="0">
                <a:latin typeface="Times New Roman"/>
              </a:rPr>
              <a:t>-Temporal Semantic Algorithm for Video Anomaly Detection from Monitoring Perspectives [</a:t>
            </a:r>
            <a:r>
              <a:rPr lang="en-US" sz="2600" b="1" dirty="0">
                <a:latin typeface="Times New Roman"/>
              </a:rPr>
              <a:t>10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Spatial, temporal and semantic features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Monitoring-oriented anomaly analysis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Semantic video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scene-level understanding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Motivates multi-context reasoning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Helps combine spatial and temporal cues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Graph-Based Knowledge Driven Approach for Violence Detection [</a:t>
            </a:r>
            <a:r>
              <a:rPr lang="en-US" sz="2600" b="1" dirty="0">
                <a:latin typeface="Times New Roman"/>
              </a:rPr>
              <a:t>11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Spatial-temporal knowledge graphs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Graph-based violence reasoning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Knowledge-driven event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context fusion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Helps higher-level incident reasoning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graph-based incident representation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Action Knowledge Graph for Violence Detection Using Audiovisual Features [</a:t>
            </a:r>
            <a:r>
              <a:rPr lang="en-US" sz="2600" b="1" dirty="0">
                <a:latin typeface="Times New Roman"/>
              </a:rPr>
              <a:t>12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Knowledge graph for violence context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Audiovisual feature fusion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Action relationship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relationship-aware reasoning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Helps describe violent incidents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Informs incident context modeling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Real-Time Video Surveillance Analysis at the Edge in Smart Cities [</a:t>
            </a:r>
            <a:r>
              <a:rPr lang="en-US" sz="2600" b="1" dirty="0">
                <a:latin typeface="Times New Roman"/>
              </a:rPr>
              <a:t>1</a:t>
            </a:r>
            <a:r>
              <a:rPr sz="2600" b="1" dirty="0">
                <a:latin typeface="Times New Roman"/>
              </a:rPr>
              <a:t>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Edge AI for real-time video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Detection, tracking and event correlation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Low-latency smart-city surveillance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low-latency deployment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Fits CCTV-based metro systems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edge surveillance design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VD-Net: An Edge Vision-Based Surveillance System for Violence Detection [</a:t>
            </a:r>
            <a:r>
              <a:rPr lang="en-US" sz="2600" b="1" dirty="0">
                <a:latin typeface="Times New Roman"/>
              </a:rPr>
              <a:t>14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Lightweight edge violence detection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Low-compute real-time design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Edge-based surveillance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near-real-time fight detection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Fits edge deployment needs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lightweight model 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latin typeface="Times New Roman"/>
              </a:rPr>
              <a:t>An Attention-Based Unsupervised Framework for Video Anomaly Detection in Large Heterogeneous Environments [</a:t>
            </a:r>
            <a:r>
              <a:rPr lang="en-US" sz="2200" b="1" dirty="0">
                <a:latin typeface="Times New Roman"/>
              </a:rPr>
              <a:t>15</a:t>
            </a:r>
            <a:r>
              <a:rPr sz="22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Attention-based anomaly regions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Unsupervised learning for CCTV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Handling heterogeneous environments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Helps handle diverse camera views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Reduces label requirements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robust anomaly detection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latin typeface="Times New Roman"/>
              </a:rPr>
              <a:t>Real-Time Human Group Detection and Clustering in Crowded Environments Using Enhanced Multi-Object Tracking [1</a:t>
            </a:r>
            <a:r>
              <a:rPr lang="en-US" sz="2200" b="1" dirty="0">
                <a:latin typeface="Times New Roman"/>
              </a:rPr>
              <a:t>6</a:t>
            </a:r>
            <a:r>
              <a:rPr sz="22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Enhanced multi-object tracking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Proximity and trajectory clustering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Real-time group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Adds group-level context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Complements ByteTrack tracking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crowded-scene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Multi-Scale Video Anomaly Detection by Multi-Grained </a:t>
            </a:r>
            <a:r>
              <a:rPr sz="2600" b="1" dirty="0" err="1">
                <a:latin typeface="Times New Roman"/>
              </a:rPr>
              <a:t>Spatio</a:t>
            </a:r>
            <a:r>
              <a:rPr sz="2600" b="1" dirty="0">
                <a:latin typeface="Times New Roman"/>
              </a:rPr>
              <a:t>-Temporal Representation Learning [</a:t>
            </a:r>
            <a:r>
              <a:rPr lang="en-US" sz="2600" b="1" dirty="0">
                <a:latin typeface="Times New Roman"/>
              </a:rPr>
              <a:t>17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Multi-scale spatio-temporal features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Local and global anomaly learning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Multi-grained video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Useful for people, crowds and objects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multi-level event analysis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spatio-temporal feature 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latin typeface="Times New Roman"/>
              </a:rPr>
              <a:t>CFTformer</a:t>
            </a:r>
            <a:r>
              <a:rPr sz="2600" b="1" dirty="0">
                <a:latin typeface="Times New Roman"/>
              </a:rPr>
              <a:t>: End-to-End Cross-Frame Multi-Object Tracking With Transformer [</a:t>
            </a:r>
            <a:r>
              <a:rPr lang="en-US" sz="2600" b="1" dirty="0">
                <a:latin typeface="Times New Roman"/>
              </a:rPr>
              <a:t>18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Cross-frame transformer tracking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Trajectory refinement and attention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End-to-end multi-object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Suggests a future tracking upgrade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Helps reduce identity switches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advanced tracking research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SCL-YOLOv11: A Lightweight Object Detection Network for Low-Illumination Environments [</a:t>
            </a:r>
            <a:r>
              <a:rPr lang="en-US" sz="2600" b="1" dirty="0">
                <a:latin typeface="Times New Roman"/>
              </a:rPr>
              <a:t>19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Lightweight YOLOv11 for low light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Image enhancement and distillation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Low-illumination object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poorly lit metro scenes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Improves robust object detection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low-light deployment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Online Action Detection by Long Short-Term Transformer with Query Exemplars [</a:t>
            </a:r>
            <a:r>
              <a:rPr lang="en-US" sz="2600" b="1" dirty="0">
                <a:latin typeface="Times New Roman"/>
              </a:rPr>
              <a:t>20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Long Short-Term Transformer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Online temporal action detection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Query exemplar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streaming event analysis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Useful for fight localization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Guides online action recognition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LITERATURE REVIEW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0972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Times New Roman"/>
              </a:rPr>
              <a:t>Abandoned Bag Detection in Public Areas Using Grounding DINO With Fine-Grained Prompts [</a:t>
            </a:r>
            <a:r>
              <a:rPr lang="en-US" sz="2600" b="1" dirty="0">
                <a:latin typeface="Times New Roman"/>
              </a:rPr>
              <a:t>21</a:t>
            </a:r>
            <a:r>
              <a:rPr sz="2600" b="1" dirty="0"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Key Features Introduced: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01200" cy="15087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Grounding DINO with fine-grained prompts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Carry-place-leave-stationary sequence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Person-object association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latin typeface="Times New Roman"/>
              </a:rPr>
              <a:t>Relevance to Our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9601200" cy="141732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Shapes abandoned-object state logic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Supports object-person association</a:t>
            </a:r>
          </a:p>
          <a:p>
            <a:pPr algn="l">
              <a:lnSpc>
                <a:spcPct val="100000"/>
              </a:lnSpc>
              <a:spcAft>
                <a:spcPts val="936"/>
              </a:spcAft>
              <a:defRPr sz="2100" b="0">
                <a:latin typeface="Times New Roman"/>
              </a:defRPr>
            </a:pPr>
            <a:r>
              <a:t>• Helps model object ownership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BLOCK DIAGRAM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40</a:t>
            </a:r>
          </a:p>
        </p:txBody>
      </p:sp>
      <p:pic>
        <p:nvPicPr>
          <p:cNvPr id="7" name="Picture 6" descr="zeroth_p7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34440"/>
            <a:ext cx="854964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METHODOLOGY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353312"/>
            <a:ext cx="9784080" cy="452628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CCTV feeds are processed through preprocessing.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YOLOv11 detects people and objects in each frame.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</a:t>
            </a:r>
            <a:r>
              <a:rPr dirty="0" err="1"/>
              <a:t>ByteTrack</a:t>
            </a:r>
            <a:r>
              <a:rPr dirty="0"/>
              <a:t> follows detected entities across frames.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Fight, crowd and abandoned-object modules run in parallel.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Event and context analysis assesses context and risk.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The system generates priority level and incident summary.</a:t>
            </a:r>
          </a:p>
          <a:p>
            <a:pPr algn="l">
              <a:lnSpc>
                <a:spcPct val="100000"/>
              </a:lnSpc>
              <a:spcAft>
                <a:spcPts val="1152"/>
              </a:spcAft>
              <a:defRPr sz="2100" b="0">
                <a:latin typeface="Times New Roman"/>
              </a:defRPr>
            </a:pPr>
            <a:r>
              <a:rPr dirty="0"/>
              <a:t>• Results are pushed to an interactive dashboard for real-time alerts.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WORK PLAN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120" y="1417320"/>
          <a:ext cx="102412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 algn="ctr">
                        <a:defRPr sz="2000" b="1"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latin typeface="Times New Roman"/>
                        </a:defRPr>
                      </a:pPr>
                      <a:r>
                        <a:t>Major Tasks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Literature study and requirements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Dataset preparation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Detection and tracking modules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Incident reasoning and risk assessment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Dashboard and system integration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pPr algn="ctr">
                        <a:defRPr sz="1900" b="0"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Times New Roman"/>
                        </a:defRPr>
                      </a:pPr>
                      <a:r>
                        <a:t>Testing, evaluation and documentation</a:t>
                      </a:r>
                    </a:p>
                  </a:txBody>
                  <a:tcPr marL="73152" marR="73152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GANNT CHART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568" y="118872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SEP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18872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OCT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1" y="118872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1264" y="118872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DEC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118872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18872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FEB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18872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18872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4813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Literature &amp;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0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28031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41264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4496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67728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80960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94192" y="149961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28999" y="1527048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Dataset preparation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0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28031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541264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54496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67728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680960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94192" y="194767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42232" y="1975104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55463" y="1975104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Detection modules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01568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14800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28031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541264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54496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967728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80960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94192" y="2395728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855463" y="2423160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568696" y="2423160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28254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Tracking &amp; event extraction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1568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114800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828031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541264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254496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67728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680960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394192" y="2843784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855463" y="2871215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568696" y="2871215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81928" y="2871215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32735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Incident reasoning &amp; risk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01568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114800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828031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541264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254496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967728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680960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94192" y="3291840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281928" y="3319272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995160" y="3319272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" y="372160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Dashboard &amp; integration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01568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114800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828031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541264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254496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967728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680960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394192" y="3739896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995160" y="3767328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708392" y="3767328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0080" y="4169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Testing &amp; evaluation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01568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114800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828031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541264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254496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967728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7680960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394192" y="4187952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708392" y="4215384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421623" y="4215384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Report &amp; final presentation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01568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114800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828031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541264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254496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967728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680960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394192" y="4636007"/>
            <a:ext cx="667512" cy="27432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421623" y="4663440"/>
            <a:ext cx="612648" cy="219456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RESOURCE IDENTIFICATION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601200" cy="4480560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Development PC / GPU system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CCTV or recorded video source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Storage for datasets and video clips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Python and deep-learning libraries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Ultralytics YOLOv11 and ByteTrack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OpenCV and dashboard tools</a:t>
            </a:r>
          </a:p>
          <a:p>
            <a:pPr algn="l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t>• Public surveillance datasets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000" b="1" u="sng">
                <a:latin typeface="Times New Roman"/>
              </a:rPr>
              <a:t>TASK ALLOCATION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4789" y="1793845"/>
            <a:ext cx="9308061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ADITHYA CHANDRAN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System architecture, YOLOv11 integration and dashboard</a:t>
            </a:r>
            <a:r>
              <a:rPr lang="en-US" sz="2400" dirty="0">
                <a:latin typeface="Times New Roman"/>
              </a:rPr>
              <a:t>.</a:t>
            </a:r>
          </a:p>
          <a:p>
            <a:pPr algn="just"/>
            <a:endParaRPr sz="2100" b="1" dirty="0"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75058" y="2507077"/>
            <a:ext cx="834946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AKHIL P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Dataset preparation, abandoned-object module and model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5058" y="3261929"/>
            <a:ext cx="1031468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MUHAMMED SHIBIL KP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Literature review, </a:t>
            </a:r>
            <a:r>
              <a:rPr lang="en-US" sz="2000" dirty="0" err="1">
                <a:latin typeface="Times New Roman"/>
              </a:rPr>
              <a:t>ByteTrack</a:t>
            </a:r>
            <a:r>
              <a:rPr lang="en-US" sz="2000" dirty="0">
                <a:latin typeface="Times New Roman"/>
              </a:rPr>
              <a:t>/tracking and fight-detection module.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4789" y="3969894"/>
            <a:ext cx="1030763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SHEHRUZ MUHAMMED CS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Incident reasoning, context fusion, risk assessment and report.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732" y="4723021"/>
            <a:ext cx="838011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2100" b="1" dirty="0">
                <a:latin typeface="Times New Roman"/>
              </a:rPr>
              <a:t>ALL MEMBERS</a:t>
            </a:r>
            <a:r>
              <a:rPr lang="en-US" sz="2100" b="1" dirty="0">
                <a:latin typeface="Times New Roman"/>
              </a:rPr>
              <a:t> : </a:t>
            </a:r>
            <a:r>
              <a:rPr lang="en-US" sz="2000" dirty="0">
                <a:latin typeface="Times New Roman"/>
              </a:rPr>
              <a:t>Testing, documentation and final presentation preparation.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CONCLUSION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9646920" cy="2396554"/>
          </a:xfrm>
          <a:prstGeom prst="rect">
            <a:avLst/>
          </a:prstGeom>
          <a:noFill/>
        </p:spPr>
        <p:txBody>
          <a:bodyPr wrap="square" lIns="73152" tIns="18288" rIns="27432" bIns="18288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The framework unifies multi-event detection, tracking and risk assessment.</a:t>
            </a:r>
          </a:p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It detects multiple event types from CCTV.</a:t>
            </a:r>
          </a:p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It prioritizes incidents using risk assessment.</a:t>
            </a:r>
          </a:p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It supports faster and smarter security response.</a:t>
            </a:r>
          </a:p>
          <a:p>
            <a:pPr algn="just">
              <a:lnSpc>
                <a:spcPct val="100000"/>
              </a:lnSpc>
              <a:spcAft>
                <a:spcPts val="1296"/>
              </a:spcAft>
              <a:defRPr sz="2200" b="0">
                <a:latin typeface="Times New Roman"/>
              </a:defRPr>
            </a:pPr>
            <a:r>
              <a:rPr dirty="0"/>
              <a:t>• It is scalable for future smart transportation systems.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160" y="301752"/>
            <a:ext cx="7360920" cy="5669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200" b="1" u="sng">
                <a:latin typeface="Times New Roman"/>
              </a:rPr>
              <a:t>REFERENCES</a:t>
            </a:r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55680" cy="5029200"/>
          </a:xfrm>
          <a:prstGeom prst="rect">
            <a:avLst/>
          </a:prstGeom>
          <a:noFill/>
        </p:spPr>
        <p:txBody>
          <a:bodyPr wrap="square" lIns="27432" tIns="9144" rIns="27432" bIns="9144" anchor="t"/>
          <a:lstStyle/>
          <a:p>
            <a:pPr>
              <a:spcAft>
                <a:spcPts val="100"/>
              </a:spcAft>
              <a:defRPr sz="1500">
                <a:latin typeface="Times New Roman"/>
              </a:defRPr>
            </a:pPr>
            <a:r>
              <a:rPr lang="en-IN" sz="1100" dirty="0">
                <a:latin typeface="Times New Roman"/>
              </a:rPr>
              <a:t>[1] A. A. Hamid, S. A. </a:t>
            </a:r>
            <a:r>
              <a:rPr lang="en-IN" sz="1100" dirty="0" err="1">
                <a:latin typeface="Times New Roman"/>
              </a:rPr>
              <a:t>Monadjemi</a:t>
            </a:r>
            <a:r>
              <a:rPr lang="en-IN" sz="1100" dirty="0">
                <a:latin typeface="Times New Roman"/>
              </a:rPr>
              <a:t>, and B. Shoushtarian, “</a:t>
            </a:r>
            <a:r>
              <a:rPr lang="en-IN" sz="1100" dirty="0" err="1">
                <a:latin typeface="Times New Roman"/>
              </a:rPr>
              <a:t>ABDviaMSIFAT</a:t>
            </a:r>
            <a:r>
              <a:rPr lang="en-IN" sz="1100" dirty="0">
                <a:latin typeface="Times New Roman"/>
              </a:rPr>
              <a:t>: Abnormal Crowd </a:t>
            </a:r>
            <a:r>
              <a:rPr lang="en-IN" sz="1100" dirty="0" err="1">
                <a:latin typeface="Times New Roman"/>
              </a:rPr>
              <a:t>Behavior</a:t>
            </a:r>
            <a:r>
              <a:rPr lang="en-IN" sz="1100" dirty="0">
                <a:latin typeface="Times New Roman"/>
              </a:rPr>
              <a:t> Detection Utilizing a Multi-Source Information Fusion Technique,” IEEE Access, vol. 13, pp. 75000–75019,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10.1109/ACCESS.2024.3436007</a:t>
            </a:r>
          </a:p>
          <a:p>
            <a:pPr>
              <a:spcAft>
                <a:spcPts val="100"/>
              </a:spcAft>
              <a:defRPr sz="1500">
                <a:latin typeface="Times New Roman"/>
              </a:defRPr>
            </a:pPr>
            <a:r>
              <a:rPr lang="en-IN" sz="1100" dirty="0">
                <a:latin typeface="Times New Roman"/>
              </a:rPr>
              <a:t>.</a:t>
            </a:r>
          </a:p>
          <a:p>
            <a:pPr>
              <a:spcAft>
                <a:spcPts val="100"/>
              </a:spcAft>
              <a:defRPr sz="1500">
                <a:latin typeface="Times New Roman"/>
              </a:defRPr>
            </a:pPr>
            <a:r>
              <a:rPr lang="en-IN" sz="1100" dirty="0">
                <a:latin typeface="Times New Roman"/>
              </a:rPr>
              <a:t>[2] D. Chaudhary, S. Kumar, and V. S. Dhaka, “Intelligent Anomaly Detection and Localization With Crowd Density Estimation for Improved Public Safety,” IEEE Access, vol. 13, pp. 169912–169928,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10.1109/ACCESS.2025.3614146.</a:t>
            </a:r>
          </a:p>
          <a:p>
            <a:pPr>
              <a:spcAft>
                <a:spcPts val="100"/>
              </a:spcAft>
              <a:defRPr sz="1500">
                <a:latin typeface="Times New Roman"/>
              </a:defRPr>
            </a:pPr>
            <a:endParaRPr lang="en-IN" sz="1100" dirty="0"/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[3] A. M. Qasim, N. Abbas, A. Ali, and B. A. A. Al-Ghamdi, “Abandoned Object Detection and Classification Using Deep Embedded Vision,” IEEE Access, vol. 12, pp. 35539–35551,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10.1109/ACCESS.2024.3369233.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[4] H.-Y. Lin and C.-H. Tseng, “Abnormal Activity Detection and Classification of Bus Passengers With In-Vehicle Image Sensing,” IEEE Access,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10.1109/ACCESS.2024.3365138.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[5] T. Yuan, X. Zhang, K. Liu, B. Liu, C. Chen, J. Jin, and Z. Jiao, “Towards Surveillance Video-and-Language Understanding: New Dataset, Baselines, and Challenges,” in Proc. IEEE/CVF CVPR, 2024, pp. 22052–22061,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10.1109/CVPR52733.2024.02082.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[6] S. F. A. Shah, M. Q. Khan, A. A. </a:t>
            </a:r>
            <a:r>
              <a:rPr lang="en-IN" sz="1100" dirty="0" err="1">
                <a:latin typeface="Times New Roman"/>
              </a:rPr>
              <a:t>Alsuwaylimi</a:t>
            </a:r>
            <a:r>
              <a:rPr lang="en-IN" sz="1100" dirty="0">
                <a:latin typeface="Times New Roman"/>
              </a:rPr>
              <a:t>, and L. A. </a:t>
            </a:r>
            <a:r>
              <a:rPr lang="en-IN" sz="1100" dirty="0" err="1">
                <a:latin typeface="Times New Roman"/>
              </a:rPr>
              <a:t>Alenezi</a:t>
            </a:r>
            <a:r>
              <a:rPr lang="en-IN" sz="1100" dirty="0">
                <a:latin typeface="Times New Roman"/>
              </a:rPr>
              <a:t>, “A Two-Stage Spatiotemporal CNN-YOLOv9 Framework for High-Precision Real-Time Abandoned Object Detection in Public Surveillance Videos,” IEEE Access, vol. 14, pp. 35983–35997, 2026,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10.1109/ACCESS.2026.3669588.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[7] Y. Wang and V. Y. Mariano, “A Multi Object Tracking Framework Based on YOLOv8s and </a:t>
            </a:r>
            <a:r>
              <a:rPr lang="en-IN" sz="1100" dirty="0" err="1">
                <a:latin typeface="Times New Roman"/>
              </a:rPr>
              <a:t>ByteTrack</a:t>
            </a:r>
            <a:r>
              <a:rPr lang="en-IN" sz="1100" dirty="0">
                <a:latin typeface="Times New Roman"/>
              </a:rPr>
              <a:t> Algorithm,” IEEE Access,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10.1109/ACCESS.2024.3450370.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[8] S. T. Y. Aung, W. </a:t>
            </a:r>
            <a:r>
              <a:rPr lang="en-IN" sz="1100" dirty="0" err="1">
                <a:latin typeface="Times New Roman"/>
              </a:rPr>
              <a:t>Kusakunniran</a:t>
            </a:r>
            <a:r>
              <a:rPr lang="en-IN" sz="1100" dirty="0">
                <a:latin typeface="Times New Roman"/>
              </a:rPr>
              <a:t>, and Y. K. Hooi, “Leveraging Fusion Methods of Human Pose and Motion Dynamics for Accurate Violence Detection in Video Surveillance,” IEEE Access,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10.1109/ACCESS.2025.3613765.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[9] Z. Yang and R. J. Radke, “Context-aware Video Anomaly Detection in Long-Term Datasets,” in Proc. IEEE/CVF CVPR Workshops, 2024, pp. 4002–4011,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10.1109/CVPRW63382.2024.00404.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[10] Z. Zhu, H. He, and M. Wang, “A </a:t>
            </a:r>
            <a:r>
              <a:rPr lang="en-IN" sz="1100" dirty="0" err="1">
                <a:latin typeface="Times New Roman"/>
              </a:rPr>
              <a:t>Spatio</a:t>
            </a:r>
            <a:r>
              <a:rPr lang="en-IN" sz="1100" dirty="0">
                <a:latin typeface="Times New Roman"/>
              </a:rPr>
              <a:t>-Temporal Semantic Algorithm for Video Anomaly Detection from Monitoring Perspectives,” in Proc. 5th Int. Conf. Artificial Intelligence, Robotics, and Communication (ICAIRC),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10.1109/ICAIRC68035.2025.11385035.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19456"/>
            <a:ext cx="73152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Times New Roman"/>
              </a:rPr>
              <a:t>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400800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E6E6E"/>
                </a:solidFill>
                <a:latin typeface="Times New Roman"/>
              </a:rPr>
              <a:t>AI &amp; DS DEPARTMENT, SIMAT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640080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Times New Roman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11155680" cy="5029200"/>
          </a:xfrm>
          <a:prstGeom prst="rect">
            <a:avLst/>
          </a:prstGeom>
          <a:noFill/>
        </p:spPr>
        <p:txBody>
          <a:bodyPr wrap="square" lIns="27432" tIns="9144" rIns="27432" bIns="9144" anchor="t"/>
          <a:lstStyle/>
          <a:p>
            <a:pPr>
              <a:spcAft>
                <a:spcPts val="100"/>
              </a:spcAft>
              <a:defRPr sz="1500">
                <a:latin typeface="Times New Roman"/>
              </a:defRPr>
            </a:pPr>
            <a:r>
              <a:rPr lang="en-IN" sz="1100" dirty="0">
                <a:latin typeface="Times New Roman"/>
              </a:rPr>
              <a:t>[11] M. Khan, W. </a:t>
            </a:r>
            <a:r>
              <a:rPr lang="en-IN" sz="1100" dirty="0" err="1">
                <a:latin typeface="Times New Roman"/>
              </a:rPr>
              <a:t>Gueaieb</a:t>
            </a:r>
            <a:r>
              <a:rPr lang="en-IN" sz="1100" dirty="0">
                <a:latin typeface="Times New Roman"/>
              </a:rPr>
              <a:t>, A. </a:t>
            </a:r>
            <a:r>
              <a:rPr lang="en-IN" sz="1100" dirty="0" err="1">
                <a:latin typeface="Times New Roman"/>
              </a:rPr>
              <a:t>Elsaddik</a:t>
            </a:r>
            <a:r>
              <a:rPr lang="en-IN" sz="1100" dirty="0">
                <a:latin typeface="Times New Roman"/>
              </a:rPr>
              <a:t>, G. De Masi, and F. </a:t>
            </a:r>
            <a:r>
              <a:rPr lang="en-IN" sz="1100" dirty="0" err="1">
                <a:latin typeface="Times New Roman"/>
              </a:rPr>
              <a:t>Karray</a:t>
            </a:r>
            <a:r>
              <a:rPr lang="en-IN" sz="1100" dirty="0">
                <a:latin typeface="Times New Roman"/>
              </a:rPr>
              <a:t>, “Graph-Based Knowledge Driven Approach for Violence Detection,” IEEE Consumer Electronics Magazine, vol. 14, no. 1, pp. 77–85,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10.1109/MCE.2024.3446192.</a:t>
            </a:r>
          </a:p>
          <a:p>
            <a:pPr>
              <a:spcAft>
                <a:spcPts val="100"/>
              </a:spcAft>
              <a:defRPr sz="1500">
                <a:latin typeface="Times New Roman"/>
              </a:defRPr>
            </a:pPr>
            <a:endParaRPr lang="en-IN" sz="1100" dirty="0"/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[12] M. Khan, M. Saad, A. Khan, W. </a:t>
            </a:r>
            <a:r>
              <a:rPr lang="en-IN" sz="1100" dirty="0" err="1">
                <a:latin typeface="Times New Roman"/>
              </a:rPr>
              <a:t>Gueaieb</a:t>
            </a:r>
            <a:r>
              <a:rPr lang="en-IN" sz="1100" dirty="0">
                <a:latin typeface="Times New Roman"/>
              </a:rPr>
              <a:t>, A. E. Saddik, G. De Masi, and F. </a:t>
            </a:r>
            <a:r>
              <a:rPr lang="en-IN" sz="1100" dirty="0" err="1">
                <a:latin typeface="Times New Roman"/>
              </a:rPr>
              <a:t>Karray</a:t>
            </a:r>
            <a:r>
              <a:rPr lang="en-IN" sz="1100" dirty="0">
                <a:latin typeface="Times New Roman"/>
              </a:rPr>
              <a:t>, “Action Knowledge Graph for Violence Detection Using Audiovisual Features,” in Proc. IEEE Int. Conf. Consumer Electronics (ICCE),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10.1109/ICCE59016.2024.10444158.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[13] A. S. Kannan, Z. A. Alsalami, A. </a:t>
            </a:r>
            <a:r>
              <a:rPr lang="en-IN" sz="1100" dirty="0" err="1">
                <a:latin typeface="Times New Roman"/>
              </a:rPr>
              <a:t>Nihlani</a:t>
            </a:r>
            <a:r>
              <a:rPr lang="en-IN" sz="1100" dirty="0">
                <a:latin typeface="Times New Roman"/>
              </a:rPr>
              <a:t>, K. Gowthami, M. A. K. </a:t>
            </a:r>
            <a:r>
              <a:rPr lang="en-IN" sz="1100" dirty="0" err="1">
                <a:latin typeface="Times New Roman"/>
              </a:rPr>
              <a:t>Abdukodir</a:t>
            </a:r>
            <a:r>
              <a:rPr lang="en-IN" sz="1100" dirty="0">
                <a:latin typeface="Times New Roman"/>
              </a:rPr>
              <a:t> Kizi, A. Amudha, and Z. </a:t>
            </a:r>
            <a:r>
              <a:rPr lang="en-IN" sz="1100" dirty="0" err="1">
                <a:latin typeface="Times New Roman"/>
              </a:rPr>
              <a:t>Mamadalieva</a:t>
            </a:r>
            <a:r>
              <a:rPr lang="en-IN" sz="1100" dirty="0">
                <a:latin typeface="Times New Roman"/>
              </a:rPr>
              <a:t>, “Real-Time Video Surveillance Analysis at the Edge in Smart Cities,” in Proc. Int. Conf. Innovations and Emerging Technologies in AI &amp; Communication Systems (IETACS),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10.1109/IETACS68750.2025.11385417.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[14] M. Khan, A. E. Saddik, W. </a:t>
            </a:r>
            <a:r>
              <a:rPr lang="en-IN" sz="1100" dirty="0" err="1">
                <a:latin typeface="Times New Roman"/>
              </a:rPr>
              <a:t>Gueaieb</a:t>
            </a:r>
            <a:r>
              <a:rPr lang="en-IN" sz="1100" dirty="0">
                <a:latin typeface="Times New Roman"/>
              </a:rPr>
              <a:t>, G. De Masi, and F. </a:t>
            </a:r>
            <a:r>
              <a:rPr lang="en-IN" sz="1100" dirty="0" err="1">
                <a:latin typeface="Times New Roman"/>
              </a:rPr>
              <a:t>Karray</a:t>
            </a:r>
            <a:r>
              <a:rPr lang="en-IN" sz="1100" dirty="0">
                <a:latin typeface="Times New Roman"/>
              </a:rPr>
              <a:t>, “VD-Net: An Edge Vision-Based Surveillance System for Violence Detection,” IEEE Access, vol. 12, pp. 43796–43808,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10.1109/ACCESS.2024.3380192.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[15] M. H. </a:t>
            </a:r>
            <a:r>
              <a:rPr lang="en-IN" sz="1100" dirty="0" err="1">
                <a:latin typeface="Times New Roman"/>
              </a:rPr>
              <a:t>Habeb</a:t>
            </a:r>
            <a:r>
              <a:rPr lang="en-IN" sz="1100" dirty="0">
                <a:latin typeface="Times New Roman"/>
              </a:rPr>
              <a:t>, M. Salama, and L. A. </a:t>
            </a:r>
            <a:r>
              <a:rPr lang="en-IN" sz="1100" dirty="0" err="1">
                <a:latin typeface="Times New Roman"/>
              </a:rPr>
              <a:t>Elrefaei</a:t>
            </a:r>
            <a:r>
              <a:rPr lang="en-IN" sz="1100" dirty="0">
                <a:latin typeface="Times New Roman"/>
              </a:rPr>
              <a:t>, “An Attention-Based Unsupervised Framework for Video Anomaly Detection in Large Heterogeneous Environments,” in Proc. MIUCC,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10.1109/MIUCC62295.2024.10783549.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[16] H. Lee, D. Kang, H. Park, S. Park, D. Jeong, and J. Paik, “Real-Time Human Group Detection and Clustering in Crowded Environments Using Enhanced Multi-Object Tracking,” IEEE Access, vol. 12, pp. 184028–184039,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10.1109/ACCESS.2024.3503661.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[17] M. Zhang, J. Wang, Q. Qi, H. Sun, Z. Zhuang, P. Ren, R. Ma, and J. Liao, “Multi-Scale Video Anomaly Detection by Multi-Grained </a:t>
            </a:r>
            <a:r>
              <a:rPr lang="en-IN" sz="1100" dirty="0" err="1">
                <a:latin typeface="Times New Roman"/>
              </a:rPr>
              <a:t>Spatio</a:t>
            </a:r>
            <a:r>
              <a:rPr lang="en-IN" sz="1100" dirty="0">
                <a:latin typeface="Times New Roman"/>
              </a:rPr>
              <a:t>-Temporal Representation Learning,” in Proc. IEEE/CVF CVPR, 2024, pp. 17385–17394,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10.1109/CVPR52733.2024.01646.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[18] A. Amirkhani and S. A. </a:t>
            </a:r>
            <a:r>
              <a:rPr lang="en-IN" sz="1100" dirty="0" err="1">
                <a:latin typeface="Times New Roman"/>
              </a:rPr>
              <a:t>Khoshnevis</a:t>
            </a:r>
            <a:r>
              <a:rPr lang="en-IN" sz="1100" dirty="0">
                <a:latin typeface="Times New Roman"/>
              </a:rPr>
              <a:t>, “</a:t>
            </a:r>
            <a:r>
              <a:rPr lang="en-IN" sz="1100" dirty="0" err="1">
                <a:latin typeface="Times New Roman"/>
              </a:rPr>
              <a:t>CFTformer</a:t>
            </a:r>
            <a:r>
              <a:rPr lang="en-IN" sz="1100" dirty="0">
                <a:latin typeface="Times New Roman"/>
              </a:rPr>
              <a:t>: End-to-End Cross-Frame Multi-Object Tracking With Transformer,” IEEE Access,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10.1109/ACCESS.2025.3567349.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[19] S. Zhuo, H. Bai, L. Jiang, X. Zhou, X. Duan, Y. Ma, and Z. Zhou, “SCL-YOLOv11: A Lightweight Object Detection Network for Low-Illumination Environments,” IEEE Access, vol. 13, pp. 47653–47662, 2025,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10.1109/ACCESS.2025.3550947.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IN" sz="1100" dirty="0">
                <a:latin typeface="Times New Roman"/>
              </a:rPr>
              <a:t>[20] H. Zhang, Y. Guo, and X. Du, “Online Action Detection by Long Short-Term Transformer with Query Exemplars,” in Proc. IEEE Int. Joint Conf. Neural Networks (IJCNN), 2024, </a:t>
            </a:r>
            <a:r>
              <a:rPr lang="en-IN" sz="1100" dirty="0" err="1">
                <a:latin typeface="Times New Roman"/>
              </a:rPr>
              <a:t>doi</a:t>
            </a:r>
            <a:r>
              <a:rPr lang="en-IN" sz="1100" dirty="0">
                <a:latin typeface="Times New Roman"/>
              </a:rPr>
              <a:t>: 10.1109/IJCNN60899.2024.10651333.</a:t>
            </a: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r>
              <a:rPr lang="en-US" sz="1100" dirty="0">
                <a:latin typeface="Times New Roman"/>
              </a:rPr>
              <a:t>[21] T. </a:t>
            </a:r>
            <a:r>
              <a:rPr lang="en-US" sz="1100" dirty="0" err="1">
                <a:latin typeface="Times New Roman"/>
              </a:rPr>
              <a:t>Soontornnapar</a:t>
            </a:r>
            <a:r>
              <a:rPr lang="en-US" sz="1100" dirty="0">
                <a:latin typeface="Times New Roman"/>
              </a:rPr>
              <a:t>, “Abandoned Bag Detection in Public Areas Using Grounding DINO With Fine-Grained Prompts,” in Proc. ECTI-CON, 2025, </a:t>
            </a:r>
            <a:r>
              <a:rPr lang="en-US" sz="1100" dirty="0" err="1">
                <a:latin typeface="Times New Roman"/>
              </a:rPr>
              <a:t>doi</a:t>
            </a:r>
            <a:r>
              <a:rPr lang="en-US" sz="1100" dirty="0">
                <a:latin typeface="Times New Roman"/>
              </a:rPr>
              <a:t>: 10.1109/ECTI-CON64996.2025.11100886.</a:t>
            </a:r>
            <a:endParaRPr lang="en-IN" sz="1100" dirty="0">
              <a:latin typeface="Times New Roman"/>
            </a:endParaRPr>
          </a:p>
          <a:p>
            <a:pPr>
              <a:spcAft>
                <a:spcPts val="100"/>
              </a:spcAft>
            </a:pPr>
            <a:endParaRPr lang="en-IN" sz="1100" dirty="0">
              <a:latin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468880"/>
            <a:ext cx="8503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0" b="1"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3217</Words>
  <Application>Microsoft Office PowerPoint</Application>
  <PresentationFormat>Widescreen</PresentationFormat>
  <Paragraphs>480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Akhil P</dc:creator>
  <cp:keywords/>
  <dc:description>generated using python-pptx</dc:description>
  <cp:lastModifiedBy>Akhil P</cp:lastModifiedBy>
  <cp:revision>4</cp:revision>
  <dcterms:created xsi:type="dcterms:W3CDTF">2013-01-27T09:14:16Z</dcterms:created>
  <dcterms:modified xsi:type="dcterms:W3CDTF">2026-09-07T06:08:32Z</dcterms:modified>
  <cp:category/>
</cp:coreProperties>
</file>